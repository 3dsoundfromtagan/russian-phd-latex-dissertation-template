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301" r:id="rId3"/>
    <p:sldId id="259" r:id="rId4"/>
    <p:sldId id="296" r:id="rId5"/>
    <p:sldId id="278" r:id="rId6"/>
    <p:sldId id="279" r:id="rId7"/>
    <p:sldId id="271" r:id="rId8"/>
    <p:sldId id="304" r:id="rId9"/>
    <p:sldId id="302" r:id="rId10"/>
    <p:sldId id="273" r:id="rId11"/>
    <p:sldId id="274" r:id="rId12"/>
    <p:sldId id="275" r:id="rId13"/>
    <p:sldId id="276" r:id="rId14"/>
    <p:sldId id="281" r:id="rId15"/>
    <p:sldId id="290" r:id="rId16"/>
    <p:sldId id="291" r:id="rId17"/>
    <p:sldId id="292" r:id="rId18"/>
    <p:sldId id="287" r:id="rId19"/>
    <p:sldId id="297" r:id="rId20"/>
    <p:sldId id="298" r:id="rId21"/>
    <p:sldId id="299" r:id="rId22"/>
    <p:sldId id="300" r:id="rId23"/>
    <p:sldId id="294" r:id="rId24"/>
    <p:sldId id="303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47B1A49A-9A85-4398-BDBD-BFB70D187A3A}">
          <p14:sldIdLst>
            <p14:sldId id="256"/>
          </p14:sldIdLst>
        </p14:section>
        <p14:section name="Актуальность и мотивация" id="{32225E85-8F3C-4F4D-A466-7104EDA57FF5}">
          <p14:sldIdLst>
            <p14:sldId id="301"/>
            <p14:sldId id="259"/>
          </p14:sldIdLst>
        </p14:section>
        <p14:section name="Цели и задачи" id="{441C0A50-5904-4A38-A4BB-FD5A4AD0414C}">
          <p14:sldIdLst>
            <p14:sldId id="296"/>
          </p14:sldIdLst>
        </p14:section>
        <p14:section name="ММЧВС" id="{700034C4-3159-482D-87DB-55268353A006}">
          <p14:sldIdLst>
            <p14:sldId id="278"/>
            <p14:sldId id="279"/>
            <p14:sldId id="271"/>
            <p14:sldId id="304"/>
          </p14:sldIdLst>
        </p14:section>
        <p14:section name="ГВГ" id="{6A4EB491-C518-412E-B554-399F8FAE4ED1}">
          <p14:sldIdLst>
            <p14:sldId id="302"/>
            <p14:sldId id="273"/>
            <p14:sldId id="274"/>
            <p14:sldId id="275"/>
            <p14:sldId id="276"/>
          </p14:sldIdLst>
        </p14:section>
        <p14:section name="Градиент" id="{76B44FA7-AC0A-4044-A688-7790B862D42E}">
          <p14:sldIdLst>
            <p14:sldId id="281"/>
            <p14:sldId id="290"/>
            <p14:sldId id="291"/>
            <p14:sldId id="292"/>
          </p14:sldIdLst>
        </p14:section>
        <p14:section name="Формальные разделы" id="{5A64861B-3D88-46CA-9899-0C91C986249D}">
          <p14:sldIdLst>
            <p14:sldId id="287"/>
            <p14:sldId id="297"/>
            <p14:sldId id="298"/>
            <p14:sldId id="299"/>
            <p14:sldId id="300"/>
          </p14:sldIdLst>
        </p14:section>
        <p14:section name="Конец" id="{383499A8-62FD-476B-8C8E-BA028898ABF5}">
          <p14:sldIdLst>
            <p14:sldId id="294"/>
          </p14:sldIdLst>
        </p14:section>
        <p14:section name="Прочее" id="{4BBA27DB-E056-440B-8F87-41713A61C105}">
          <p14:sldIdLst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69274-AE8F-42E7-BC20-9A03910CC1A3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98B29-912A-4236-B20F-C3168A1C3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12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среднем ИК диапазоне находятся пики поглощения воды, колебательных степеней свободы некоторых молекулярных связей, а также несколько окон прозрачности атмосферы. Все это делает указанный диапазон перспективным </a:t>
            </a:r>
            <a:r>
              <a:rPr lang="ru-RU"/>
              <a:t>для медицинских </a:t>
            </a:r>
            <a:r>
              <a:rPr lang="ru-RU" dirty="0"/>
              <a:t>применений, спектроскопии, оптической связи и дистанционного газоанализа.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98B29-912A-4236-B20F-C3168A1C32C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25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300B2-B81D-4037-84D7-74D07991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140A02-3C2A-490C-A9AA-0F5F4010F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9407EE-2676-49F4-BF8B-0BE8F891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6801-B80C-452C-AD44-8DE8D95B4C70}" type="datetime1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39365B-0C9E-4FD1-962E-CD37141B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493DC5-4219-42F4-82CC-E130FBF6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16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AFC46-2D2C-47B7-9890-A51CB2D3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2017DC-3F8E-4C76-943A-958FFDD63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6A9189-FFCB-440D-8B85-D7FDD533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7FF4-A2B2-4635-B94F-80742FD17F6E}" type="datetime1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1827C7-198A-4888-AAA4-8B23133A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08E7A7-8D98-449C-A2A6-15BFE846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00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4E658-5B1B-4C95-9CB9-3FDAFFF5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8A4BD3-AF9B-4C3E-A568-B9D77B15E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05DA9-A4BB-4E8F-B513-BDBC708E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4073-F696-4049-B323-219CBB8C36C6}" type="datetime1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4D9A4B-16DD-41C3-B9CC-04EE4FFC9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06972C-66DA-4205-9DA4-ABE03BCE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48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2778F-8B93-4A06-91C1-32686FCB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3DE819-01DF-457B-81FF-F77D8870B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21A89F-8814-47C4-A7EE-65C14D50B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4589F1-C627-4D61-BE4A-C42CBEA8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08D-9624-4422-83BB-369AC4B95C29}" type="datetime1">
              <a:rPr lang="ru-RU" smtClean="0"/>
              <a:t>19.08.2026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200775-0FA4-4A6B-81A1-6502F772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A06EC6-7E7F-4E11-A626-9A23A221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46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F8AB0-E25B-43C1-A0FF-F0ED2413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4E7E41-CEC2-4F1A-8C78-56E9CF801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419C11-2E4D-47AF-9463-CCF6AFBEE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8CB331-1761-4FBD-88D8-4E7786CAA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443956-C9E2-4588-A6BE-F3D3F2745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43F4221-740F-4465-A401-55998338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388-F088-4B20-A6EC-A0081E2D539C}" type="datetime1">
              <a:rPr lang="ru-RU" smtClean="0"/>
              <a:t>19.08.2026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1CFD38-A690-4CDE-AC3C-02A88D9E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44A1F31-A223-473A-99B9-14369FFB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48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87BBE-1C66-4736-AE13-D96DE2359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D2DBB-7B5B-4402-BFE3-EE367441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C627-6147-4A8F-96B0-1FCCFC2244E6}" type="datetime1">
              <a:rPr lang="ru-RU" smtClean="0"/>
              <a:t>19.08.2026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F1B59E-0DE8-4FEA-A810-2DE2CB22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52A934-1408-4E2C-8BD6-840574BB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835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6C0273-1541-426D-B577-5A46ACE6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C3DDE-29B1-4365-8B04-F35C28D17772}" type="datetime1">
              <a:rPr lang="ru-RU" smtClean="0"/>
              <a:t>19.08.2026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81A190-C538-4E54-ABD2-AD26E896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952C4C-35E9-422C-9F27-D7590F3E6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381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C59DA-4AF6-4A93-BB57-4A8E81D1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8C935C-ADA7-4CCE-AD95-2BF7BAAEE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4528FD-292A-4EC3-B62D-405EDBA66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6728E-052A-4D4C-8BEC-05F4BA73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01F54-C889-480F-8A92-D28CB155834E}" type="datetime1">
              <a:rPr lang="ru-RU" smtClean="0"/>
              <a:t>19.08.2026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C568D6-B83D-4C8D-B070-0A543F43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B329EB-AF98-4D59-ABEB-7894FCBA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0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299BF-A7E2-4507-A9CF-B65FFAD7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2623CB-2897-4757-82FE-E3BB4EE6D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0A56CB-3225-4DB4-B482-E43E3BE7F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9D5273-973A-4EDE-9D61-EE3886BF9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6A7C-E8A3-4E67-8ACC-4BC83953C3B2}" type="datetime1">
              <a:rPr lang="ru-RU" smtClean="0"/>
              <a:t>19.08.2026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EF21A1-928B-48FA-B382-955535E7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D3FD3-9CB7-4578-ACAB-66B27792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77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01F9-707C-4F22-B595-C124922D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A03DD9-7BE9-4BB6-A91A-D2EC990BF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01AF59-E680-44E5-B8B8-17EFE7FBE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B96B3-126A-4206-833E-37399B35A634}" type="datetime1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9AA2BC-6B7F-4414-9F73-F71DE130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9B0EF-10D4-449F-A5EB-5A3CD261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89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60E492-0B58-4038-AA12-6A7646FE7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98AE8C-38D2-425F-A08E-6E532554E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88E748-4AE8-48F4-BFD4-0C0AD30A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5ED-B9D6-49D7-B49D-E92DB3C62077}" type="datetime1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0DFB76-3141-4E06-A5BC-011FA08A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56F0B-97C4-4BDF-80AA-9641097B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13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CEAD8-3921-478B-A472-F5E685CF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518C8F-09A3-4403-AF91-B6FBECBC5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9A84C-4D22-4D39-B55B-55F3313E8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54C59-B003-4E50-A257-5F9BB1FD6BE7}" type="datetime1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AE7CFE-65B6-4702-AE48-74570A2B4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4DC9C4-C759-4DBB-AB0E-C11A88F42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74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42211-F9D7-40A1-833E-41BCD5F7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965" y="1766052"/>
            <a:ext cx="12192000" cy="2552436"/>
          </a:xfrm>
        </p:spPr>
        <p:txBody>
          <a:bodyPr>
            <a:noAutofit/>
          </a:bodyPr>
          <a:lstStyle/>
          <a:p>
            <a:r>
              <a:rPr lang="ru-RU" sz="4400" kern="0" dirty="0">
                <a:cs typeface="Times New Roman" panose="02020603050405020304" pitchFamily="18" charset="0"/>
              </a:rPr>
              <a:t>Нелинейно-оптические и нестационарные тепловые процессы в волоконных световодах и кристаллах при распространении мощного импульсного лазерного излучения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39F61D-9A58-47D1-A8F7-6B8715731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635" y="5163671"/>
            <a:ext cx="4338918" cy="1048139"/>
          </a:xfrm>
        </p:spPr>
        <p:txBody>
          <a:bodyPr>
            <a:normAutofit/>
          </a:bodyPr>
          <a:lstStyle/>
          <a:p>
            <a:pPr algn="l"/>
            <a:r>
              <a:rPr lang="uk-UA" dirty="0" err="1">
                <a:solidFill>
                  <a:srgbClr val="222222"/>
                </a:solidFill>
                <a:latin typeface="Arial" panose="020B0604020202020204" pitchFamily="34" charset="0"/>
              </a:rPr>
              <a:t>Научн</a:t>
            </a:r>
            <a:r>
              <a:rPr lang="ru-RU" dirty="0" err="1">
                <a:solidFill>
                  <a:srgbClr val="222222"/>
                </a:solidFill>
                <a:latin typeface="Arial" panose="020B0604020202020204" pitchFamily="34" charset="0"/>
              </a:rPr>
              <a:t>ый</a:t>
            </a: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</a:rPr>
              <a:t> руководитель:</a:t>
            </a:r>
          </a:p>
          <a:p>
            <a:pPr algn="l"/>
            <a:r>
              <a:rPr lang="ru-RU" sz="2400" b="1" dirty="0">
                <a:solidFill>
                  <a:srgbClr val="222222"/>
                </a:solidFill>
                <a:latin typeface="Arial" panose="020B0604020202020204" pitchFamily="34" charset="0"/>
              </a:rPr>
              <a:t>	Коняшкин А.В., с.н.с.</a:t>
            </a:r>
            <a:endParaRPr lang="en-US" sz="2400" b="1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9C995-32C8-4051-91C8-CE7638EA1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57867"/>
            <a:ext cx="1219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+mj-lt"/>
                <a:cs typeface="Times New Roman" panose="02020603050405020304" pitchFamily="18" charset="0"/>
              </a:rPr>
              <a:t>Фрязино</a:t>
            </a:r>
          </a:p>
          <a:p>
            <a:pPr algn="ctr" eaLnBrk="1" hangingPunct="1"/>
            <a:r>
              <a:rPr lang="ru-RU" dirty="0">
                <a:latin typeface="+mj-lt"/>
                <a:cs typeface="Times New Roman" panose="02020603050405020304" pitchFamily="18" charset="0"/>
              </a:rPr>
              <a:t>11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06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.2026</a:t>
            </a:r>
            <a:endParaRPr lang="ru-RU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0665D47A-D34D-44AE-A517-A4FA9FCE8100}"/>
              </a:ext>
            </a:extLst>
          </p:cNvPr>
          <p:cNvSpPr txBox="1">
            <a:spLocks/>
          </p:cNvSpPr>
          <p:nvPr/>
        </p:nvSpPr>
        <p:spPr>
          <a:xfrm>
            <a:off x="0" y="4491847"/>
            <a:ext cx="12192000" cy="70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</a:rPr>
              <a:t>1.3.19 — Лазерная физика</a:t>
            </a:r>
            <a:endParaRPr lang="en-US" b="1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28E8E96-A668-4E08-AE6A-6362C25DE92B}"/>
              </a:ext>
            </a:extLst>
          </p:cNvPr>
          <p:cNvSpPr txBox="1">
            <a:spLocks/>
          </p:cNvSpPr>
          <p:nvPr/>
        </p:nvSpPr>
        <p:spPr>
          <a:xfrm>
            <a:off x="-8965" y="215154"/>
            <a:ext cx="12192000" cy="10820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Московский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физико-технический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институт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национальн</a:t>
            </a:r>
            <a:r>
              <a:rPr lang="ru-RU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ый</a:t>
            </a:r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 исследовательский университет)</a:t>
            </a:r>
          </a:p>
          <a:p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Остапив Алексей Юрьевич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17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A937C-020D-42F2-BBE0-D22A6656A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1B017-4E6F-40B0-85D0-88CDE3744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9001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Применение излучения среднего ИК-диапазона (3–50 мкм):</a:t>
            </a:r>
          </a:p>
          <a:p>
            <a:r>
              <a:rPr lang="ru-RU" dirty="0"/>
              <a:t>Медицина</a:t>
            </a:r>
          </a:p>
          <a:p>
            <a:r>
              <a:rPr lang="ru-RU" dirty="0"/>
              <a:t>Спектроскопия</a:t>
            </a:r>
          </a:p>
          <a:p>
            <a:r>
              <a:rPr lang="ru-RU" dirty="0"/>
              <a:t>Дистанционное зондирование/лазерная связь в свободном пространстве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ACA731-BAB9-4E19-BF32-86C5AC52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22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Актуальность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3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838200" y="1572702"/>
            <a:ext cx="106814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Генерация излучения с длиной волны 3 мкм в </a:t>
            </a:r>
            <a:r>
              <a:rPr lang="ru-RU" sz="2200" dirty="0">
                <a:cs typeface="Times New Roman" panose="02020603050405020304" pitchFamily="18" charset="0"/>
              </a:rPr>
              <a:t>нелинейно-оптическом </a:t>
            </a:r>
            <a:r>
              <a:rPr lang="ru-RU" sz="2200" b="0" dirty="0">
                <a:cs typeface="Times New Roman" panose="02020603050405020304" pitchFamily="18" charset="0"/>
              </a:rPr>
              <a:t>кристалле </a:t>
            </a:r>
            <a:r>
              <a:rPr lang="en-US" sz="2200" b="0" dirty="0">
                <a:cs typeface="Times New Roman" panose="02020603050405020304" pitchFamily="18" charset="0"/>
              </a:rPr>
              <a:t>PPLN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6DFE876-8508-4ACB-A7C2-19B2E6DB89E7}"/>
              </a:ext>
            </a:extLst>
          </p:cNvPr>
          <p:cNvSpPr/>
          <p:nvPr/>
        </p:nvSpPr>
        <p:spPr>
          <a:xfrm>
            <a:off x="6853166" y="2220331"/>
            <a:ext cx="1996309" cy="750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PPLN</a:t>
            </a:r>
            <a:endParaRPr lang="ru-RU" sz="3600" dirty="0">
              <a:solidFill>
                <a:schemeClr val="tx1"/>
              </a:solidFill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657AD5B-D783-47B3-BE5B-A2C52C98E0F4}"/>
              </a:ext>
            </a:extLst>
          </p:cNvPr>
          <p:cNvCxnSpPr>
            <a:cxnSpLocks/>
            <a:stCxn id="32" idx="3"/>
            <a:endCxn id="15" idx="1"/>
          </p:cNvCxnSpPr>
          <p:nvPr/>
        </p:nvCxnSpPr>
        <p:spPr>
          <a:xfrm flipV="1">
            <a:off x="2536723" y="2595580"/>
            <a:ext cx="4316443" cy="26758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0496377-4886-4D51-ABBA-9A363D6A6BAD}"/>
              </a:ext>
            </a:extLst>
          </p:cNvPr>
          <p:cNvCxnSpPr>
            <a:stCxn id="15" idx="3"/>
          </p:cNvCxnSpPr>
          <p:nvPr/>
        </p:nvCxnSpPr>
        <p:spPr>
          <a:xfrm>
            <a:off x="8849475" y="2595580"/>
            <a:ext cx="891795" cy="4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B93CF77-1174-4D83-BF7A-ACEEDFC5D8AB}"/>
              </a:ext>
            </a:extLst>
          </p:cNvPr>
          <p:cNvCxnSpPr/>
          <p:nvPr/>
        </p:nvCxnSpPr>
        <p:spPr>
          <a:xfrm>
            <a:off x="8865838" y="2358354"/>
            <a:ext cx="875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19A8659-4D6E-446F-B517-CD864F6BF3FB}"/>
              </a:ext>
            </a:extLst>
          </p:cNvPr>
          <p:cNvCxnSpPr/>
          <p:nvPr/>
        </p:nvCxnSpPr>
        <p:spPr>
          <a:xfrm>
            <a:off x="8865838" y="2858686"/>
            <a:ext cx="875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294ECD-4BDF-47E6-872E-CF0BDC0090A5}"/>
              </a:ext>
            </a:extLst>
          </p:cNvPr>
          <p:cNvSpPr txBox="1"/>
          <p:nvPr/>
        </p:nvSpPr>
        <p:spPr>
          <a:xfrm>
            <a:off x="3968047" y="263303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1030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DEE74E-31F9-4D16-BD2D-5BFE268BB301}"/>
              </a:ext>
            </a:extLst>
          </p:cNvPr>
          <p:cNvSpPr txBox="1"/>
          <p:nvPr/>
        </p:nvSpPr>
        <p:spPr>
          <a:xfrm>
            <a:off x="4984921" y="263643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1560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6DD17B-BB92-4605-8A21-A564A916623D}"/>
              </a:ext>
            </a:extLst>
          </p:cNvPr>
          <p:cNvSpPr txBox="1"/>
          <p:nvPr/>
        </p:nvSpPr>
        <p:spPr>
          <a:xfrm>
            <a:off x="8807474" y="2038496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1030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DFD34-0469-4529-BB35-A905B9A66371}"/>
              </a:ext>
            </a:extLst>
          </p:cNvPr>
          <p:cNvSpPr txBox="1"/>
          <p:nvPr/>
        </p:nvSpPr>
        <p:spPr>
          <a:xfrm>
            <a:off x="8795916" y="281292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1560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45F2E1-5A82-4007-855D-7D49B8FA3318}"/>
              </a:ext>
            </a:extLst>
          </p:cNvPr>
          <p:cNvSpPr txBox="1"/>
          <p:nvPr/>
        </p:nvSpPr>
        <p:spPr>
          <a:xfrm>
            <a:off x="9666275" y="2410914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3030 </a:t>
            </a:r>
            <a:r>
              <a:rPr lang="ru-RU" b="1" dirty="0" err="1">
                <a:solidFill>
                  <a:schemeClr val="accent2">
                    <a:lumMod val="75000"/>
                  </a:schemeClr>
                </a:solidFill>
              </a:rPr>
              <a:t>нм</a:t>
            </a:r>
            <a:endParaRPr lang="ru-RU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1E8638-5D8C-4743-B6BC-EFCA6B1A1A74}"/>
              </a:ext>
            </a:extLst>
          </p:cNvPr>
          <p:cNvSpPr txBox="1"/>
          <p:nvPr/>
        </p:nvSpPr>
        <p:spPr>
          <a:xfrm>
            <a:off x="3998304" y="2228427"/>
            <a:ext cx="209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Волокно доставки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503843-8843-46B2-9391-9B164179B738}"/>
              </a:ext>
            </a:extLst>
          </p:cNvPr>
          <p:cNvSpPr txBox="1"/>
          <p:nvPr/>
        </p:nvSpPr>
        <p:spPr>
          <a:xfrm>
            <a:off x="2553086" y="3295366"/>
            <a:ext cx="42828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200" dirty="0" err="1">
                <a:cs typeface="Times New Roman" panose="02020603050405020304" pitchFamily="18" charset="0"/>
              </a:rPr>
              <a:t>Нелинейно-оптические</a:t>
            </a:r>
            <a:r>
              <a:rPr lang="uk-UA" sz="2200" dirty="0">
                <a:cs typeface="Times New Roman" panose="02020603050405020304" pitchFamily="18" charset="0"/>
              </a:rPr>
              <a:t> </a:t>
            </a:r>
            <a:r>
              <a:rPr lang="ru-RU" sz="2200" dirty="0">
                <a:cs typeface="Times New Roman" panose="02020603050405020304" pitchFamily="18" charset="0"/>
              </a:rPr>
              <a:t>эффекты в волокне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B400531-35BE-417C-8CA9-0A3AD609D938}"/>
              </a:ext>
            </a:extLst>
          </p:cNvPr>
          <p:cNvSpPr/>
          <p:nvPr/>
        </p:nvSpPr>
        <p:spPr>
          <a:xfrm>
            <a:off x="757085" y="2247089"/>
            <a:ext cx="1779638" cy="750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 err="1">
                <a:solidFill>
                  <a:schemeClr val="tx1"/>
                </a:solidFill>
              </a:rPr>
              <a:t>Лазерн</a:t>
            </a:r>
            <a:r>
              <a:rPr lang="ru-RU" sz="2800" dirty="0" err="1">
                <a:solidFill>
                  <a:schemeClr val="tx1"/>
                </a:solidFill>
              </a:rPr>
              <a:t>ый</a:t>
            </a:r>
            <a:r>
              <a:rPr lang="ru-RU" sz="2800" dirty="0">
                <a:solidFill>
                  <a:schemeClr val="tx1"/>
                </a:solidFill>
              </a:rPr>
              <a:t> модуль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380092DC-F03B-4CA4-A65B-3EC037B03F49}"/>
              </a:ext>
            </a:extLst>
          </p:cNvPr>
          <p:cNvSpPr/>
          <p:nvPr/>
        </p:nvSpPr>
        <p:spPr bwMode="auto">
          <a:xfrm>
            <a:off x="6835901" y="2096807"/>
            <a:ext cx="3827763" cy="1060678"/>
          </a:xfrm>
          <a:custGeom>
            <a:avLst/>
            <a:gdLst>
              <a:gd name="connsiteX0" fmla="*/ 0 w 3827763"/>
              <a:gd name="connsiteY0" fmla="*/ 196045 h 1060678"/>
              <a:gd name="connsiteX1" fmla="*/ 196045 w 3827763"/>
              <a:gd name="connsiteY1" fmla="*/ 0 h 1060678"/>
              <a:gd name="connsiteX2" fmla="*/ 734300 w 3827763"/>
              <a:gd name="connsiteY2" fmla="*/ 0 h 1060678"/>
              <a:gd name="connsiteX3" fmla="*/ 1375626 w 3827763"/>
              <a:gd name="connsiteY3" fmla="*/ 0 h 1060678"/>
              <a:gd name="connsiteX4" fmla="*/ 1913881 w 3827763"/>
              <a:gd name="connsiteY4" fmla="*/ 0 h 1060678"/>
              <a:gd name="connsiteX5" fmla="*/ 2383423 w 3827763"/>
              <a:gd name="connsiteY5" fmla="*/ 0 h 1060678"/>
              <a:gd name="connsiteX6" fmla="*/ 2852965 w 3827763"/>
              <a:gd name="connsiteY6" fmla="*/ 0 h 1060678"/>
              <a:gd name="connsiteX7" fmla="*/ 3631718 w 3827763"/>
              <a:gd name="connsiteY7" fmla="*/ 0 h 1060678"/>
              <a:gd name="connsiteX8" fmla="*/ 3827763 w 3827763"/>
              <a:gd name="connsiteY8" fmla="*/ 196045 h 1060678"/>
              <a:gd name="connsiteX9" fmla="*/ 3827763 w 3827763"/>
              <a:gd name="connsiteY9" fmla="*/ 543711 h 1060678"/>
              <a:gd name="connsiteX10" fmla="*/ 3827763 w 3827763"/>
              <a:gd name="connsiteY10" fmla="*/ 864633 h 1060678"/>
              <a:gd name="connsiteX11" fmla="*/ 3631718 w 3827763"/>
              <a:gd name="connsiteY11" fmla="*/ 1060678 h 1060678"/>
              <a:gd name="connsiteX12" fmla="*/ 3024749 w 3827763"/>
              <a:gd name="connsiteY12" fmla="*/ 1060678 h 1060678"/>
              <a:gd name="connsiteX13" fmla="*/ 2520850 w 3827763"/>
              <a:gd name="connsiteY13" fmla="*/ 1060678 h 1060678"/>
              <a:gd name="connsiteX14" fmla="*/ 1982595 w 3827763"/>
              <a:gd name="connsiteY14" fmla="*/ 1060678 h 1060678"/>
              <a:gd name="connsiteX15" fmla="*/ 1375626 w 3827763"/>
              <a:gd name="connsiteY15" fmla="*/ 1060678 h 1060678"/>
              <a:gd name="connsiteX16" fmla="*/ 734300 w 3827763"/>
              <a:gd name="connsiteY16" fmla="*/ 1060678 h 1060678"/>
              <a:gd name="connsiteX17" fmla="*/ 196045 w 3827763"/>
              <a:gd name="connsiteY17" fmla="*/ 1060678 h 1060678"/>
              <a:gd name="connsiteX18" fmla="*/ 0 w 3827763"/>
              <a:gd name="connsiteY18" fmla="*/ 864633 h 1060678"/>
              <a:gd name="connsiteX19" fmla="*/ 0 w 3827763"/>
              <a:gd name="connsiteY19" fmla="*/ 523653 h 1060678"/>
              <a:gd name="connsiteX20" fmla="*/ 0 w 3827763"/>
              <a:gd name="connsiteY20" fmla="*/ 196045 h 106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27763" h="1060678" extrusionOk="0">
                <a:moveTo>
                  <a:pt x="0" y="196045"/>
                </a:moveTo>
                <a:cubicBezTo>
                  <a:pt x="-8334" y="79788"/>
                  <a:pt x="77605" y="-4206"/>
                  <a:pt x="196045" y="0"/>
                </a:cubicBezTo>
                <a:cubicBezTo>
                  <a:pt x="450739" y="-55911"/>
                  <a:pt x="580761" y="58673"/>
                  <a:pt x="734300" y="0"/>
                </a:cubicBezTo>
                <a:cubicBezTo>
                  <a:pt x="887840" y="-58673"/>
                  <a:pt x="1180957" y="22466"/>
                  <a:pt x="1375626" y="0"/>
                </a:cubicBezTo>
                <a:cubicBezTo>
                  <a:pt x="1570295" y="-22466"/>
                  <a:pt x="1646281" y="22274"/>
                  <a:pt x="1913881" y="0"/>
                </a:cubicBezTo>
                <a:cubicBezTo>
                  <a:pt x="2181481" y="-22274"/>
                  <a:pt x="2287521" y="7397"/>
                  <a:pt x="2383423" y="0"/>
                </a:cubicBezTo>
                <a:cubicBezTo>
                  <a:pt x="2479325" y="-7397"/>
                  <a:pt x="2723911" y="7278"/>
                  <a:pt x="2852965" y="0"/>
                </a:cubicBezTo>
                <a:cubicBezTo>
                  <a:pt x="2982019" y="-7278"/>
                  <a:pt x="3429758" y="52047"/>
                  <a:pt x="3631718" y="0"/>
                </a:cubicBezTo>
                <a:cubicBezTo>
                  <a:pt x="3735258" y="-12045"/>
                  <a:pt x="3836726" y="100465"/>
                  <a:pt x="3827763" y="196045"/>
                </a:cubicBezTo>
                <a:cubicBezTo>
                  <a:pt x="3835542" y="269789"/>
                  <a:pt x="3800727" y="468323"/>
                  <a:pt x="3827763" y="543711"/>
                </a:cubicBezTo>
                <a:cubicBezTo>
                  <a:pt x="3854799" y="619099"/>
                  <a:pt x="3791049" y="721760"/>
                  <a:pt x="3827763" y="864633"/>
                </a:cubicBezTo>
                <a:cubicBezTo>
                  <a:pt x="3833681" y="995365"/>
                  <a:pt x="3758535" y="1083808"/>
                  <a:pt x="3631718" y="1060678"/>
                </a:cubicBezTo>
                <a:cubicBezTo>
                  <a:pt x="3411240" y="1095183"/>
                  <a:pt x="3159606" y="1050726"/>
                  <a:pt x="3024749" y="1060678"/>
                </a:cubicBezTo>
                <a:cubicBezTo>
                  <a:pt x="2889892" y="1070630"/>
                  <a:pt x="2712444" y="1037393"/>
                  <a:pt x="2520850" y="1060678"/>
                </a:cubicBezTo>
                <a:cubicBezTo>
                  <a:pt x="2329256" y="1083963"/>
                  <a:pt x="2150499" y="1042664"/>
                  <a:pt x="1982595" y="1060678"/>
                </a:cubicBezTo>
                <a:cubicBezTo>
                  <a:pt x="1814691" y="1078692"/>
                  <a:pt x="1635574" y="1007829"/>
                  <a:pt x="1375626" y="1060678"/>
                </a:cubicBezTo>
                <a:cubicBezTo>
                  <a:pt x="1115678" y="1113527"/>
                  <a:pt x="1050756" y="985151"/>
                  <a:pt x="734300" y="1060678"/>
                </a:cubicBezTo>
                <a:cubicBezTo>
                  <a:pt x="417844" y="1136205"/>
                  <a:pt x="442349" y="1022283"/>
                  <a:pt x="196045" y="1060678"/>
                </a:cubicBezTo>
                <a:cubicBezTo>
                  <a:pt x="88569" y="1076227"/>
                  <a:pt x="-18368" y="986883"/>
                  <a:pt x="0" y="864633"/>
                </a:cubicBezTo>
                <a:cubicBezTo>
                  <a:pt x="-17174" y="770143"/>
                  <a:pt x="14543" y="621879"/>
                  <a:pt x="0" y="523653"/>
                </a:cubicBezTo>
                <a:cubicBezTo>
                  <a:pt x="-14543" y="425427"/>
                  <a:pt x="20318" y="299192"/>
                  <a:pt x="0" y="196045"/>
                </a:cubicBezTo>
                <a:close/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2062788">
                  <a:prstGeom prst="roundRect">
                    <a:avLst>
                      <a:gd name="adj" fmla="val 1848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47E4550D-B179-4405-A1AC-CF27D7D9DCA4}"/>
              </a:ext>
            </a:extLst>
          </p:cNvPr>
          <p:cNvSpPr/>
          <p:nvPr/>
        </p:nvSpPr>
        <p:spPr bwMode="auto">
          <a:xfrm>
            <a:off x="2553086" y="2091999"/>
            <a:ext cx="4282815" cy="1060678"/>
          </a:xfrm>
          <a:custGeom>
            <a:avLst/>
            <a:gdLst>
              <a:gd name="connsiteX0" fmla="*/ 0 w 4282815"/>
              <a:gd name="connsiteY0" fmla="*/ 196045 h 1060678"/>
              <a:gd name="connsiteX1" fmla="*/ 196045 w 4282815"/>
              <a:gd name="connsiteY1" fmla="*/ 0 h 1060678"/>
              <a:gd name="connsiteX2" fmla="*/ 712956 w 4282815"/>
              <a:gd name="connsiteY2" fmla="*/ 0 h 1060678"/>
              <a:gd name="connsiteX3" fmla="*/ 1346588 w 4282815"/>
              <a:gd name="connsiteY3" fmla="*/ 0 h 1060678"/>
              <a:gd name="connsiteX4" fmla="*/ 1863499 w 4282815"/>
              <a:gd name="connsiteY4" fmla="*/ 0 h 1060678"/>
              <a:gd name="connsiteX5" fmla="*/ 2302595 w 4282815"/>
              <a:gd name="connsiteY5" fmla="*/ 0 h 1060678"/>
              <a:gd name="connsiteX6" fmla="*/ 2741691 w 4282815"/>
              <a:gd name="connsiteY6" fmla="*/ 0 h 1060678"/>
              <a:gd name="connsiteX7" fmla="*/ 3219694 w 4282815"/>
              <a:gd name="connsiteY7" fmla="*/ 0 h 1060678"/>
              <a:gd name="connsiteX8" fmla="*/ 4086770 w 4282815"/>
              <a:gd name="connsiteY8" fmla="*/ 0 h 1060678"/>
              <a:gd name="connsiteX9" fmla="*/ 4282815 w 4282815"/>
              <a:gd name="connsiteY9" fmla="*/ 196045 h 1060678"/>
              <a:gd name="connsiteX10" fmla="*/ 4282815 w 4282815"/>
              <a:gd name="connsiteY10" fmla="*/ 516967 h 1060678"/>
              <a:gd name="connsiteX11" fmla="*/ 4282815 w 4282815"/>
              <a:gd name="connsiteY11" fmla="*/ 864633 h 1060678"/>
              <a:gd name="connsiteX12" fmla="*/ 4086770 w 4282815"/>
              <a:gd name="connsiteY12" fmla="*/ 1060678 h 1060678"/>
              <a:gd name="connsiteX13" fmla="*/ 3608767 w 4282815"/>
              <a:gd name="connsiteY13" fmla="*/ 1060678 h 1060678"/>
              <a:gd name="connsiteX14" fmla="*/ 3091856 w 4282815"/>
              <a:gd name="connsiteY14" fmla="*/ 1060678 h 1060678"/>
              <a:gd name="connsiteX15" fmla="*/ 2497131 w 4282815"/>
              <a:gd name="connsiteY15" fmla="*/ 1060678 h 1060678"/>
              <a:gd name="connsiteX16" fmla="*/ 1863499 w 4282815"/>
              <a:gd name="connsiteY16" fmla="*/ 1060678 h 1060678"/>
              <a:gd name="connsiteX17" fmla="*/ 1346588 w 4282815"/>
              <a:gd name="connsiteY17" fmla="*/ 1060678 h 1060678"/>
              <a:gd name="connsiteX18" fmla="*/ 751863 w 4282815"/>
              <a:gd name="connsiteY18" fmla="*/ 1060678 h 1060678"/>
              <a:gd name="connsiteX19" fmla="*/ 196045 w 4282815"/>
              <a:gd name="connsiteY19" fmla="*/ 1060678 h 1060678"/>
              <a:gd name="connsiteX20" fmla="*/ 0 w 4282815"/>
              <a:gd name="connsiteY20" fmla="*/ 864633 h 1060678"/>
              <a:gd name="connsiteX21" fmla="*/ 0 w 4282815"/>
              <a:gd name="connsiteY21" fmla="*/ 523653 h 1060678"/>
              <a:gd name="connsiteX22" fmla="*/ 0 w 4282815"/>
              <a:gd name="connsiteY22" fmla="*/ 196045 h 106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282815" h="1060678" extrusionOk="0">
                <a:moveTo>
                  <a:pt x="0" y="196045"/>
                </a:moveTo>
                <a:cubicBezTo>
                  <a:pt x="-8334" y="79788"/>
                  <a:pt x="77605" y="-4206"/>
                  <a:pt x="196045" y="0"/>
                </a:cubicBezTo>
                <a:cubicBezTo>
                  <a:pt x="393551" y="-2627"/>
                  <a:pt x="484781" y="13756"/>
                  <a:pt x="712956" y="0"/>
                </a:cubicBezTo>
                <a:cubicBezTo>
                  <a:pt x="941131" y="-13756"/>
                  <a:pt x="1074204" y="73486"/>
                  <a:pt x="1346588" y="0"/>
                </a:cubicBezTo>
                <a:cubicBezTo>
                  <a:pt x="1618972" y="-73486"/>
                  <a:pt x="1682572" y="21839"/>
                  <a:pt x="1863499" y="0"/>
                </a:cubicBezTo>
                <a:cubicBezTo>
                  <a:pt x="2044426" y="-21839"/>
                  <a:pt x="2116958" y="32151"/>
                  <a:pt x="2302595" y="0"/>
                </a:cubicBezTo>
                <a:cubicBezTo>
                  <a:pt x="2488232" y="-32151"/>
                  <a:pt x="2612671" y="38718"/>
                  <a:pt x="2741691" y="0"/>
                </a:cubicBezTo>
                <a:cubicBezTo>
                  <a:pt x="2870711" y="-38718"/>
                  <a:pt x="3058467" y="51754"/>
                  <a:pt x="3219694" y="0"/>
                </a:cubicBezTo>
                <a:cubicBezTo>
                  <a:pt x="3380921" y="-51754"/>
                  <a:pt x="3865433" y="853"/>
                  <a:pt x="4086770" y="0"/>
                </a:cubicBezTo>
                <a:cubicBezTo>
                  <a:pt x="4203627" y="3222"/>
                  <a:pt x="4284505" y="70039"/>
                  <a:pt x="4282815" y="196045"/>
                </a:cubicBezTo>
                <a:cubicBezTo>
                  <a:pt x="4290460" y="352971"/>
                  <a:pt x="4246101" y="374094"/>
                  <a:pt x="4282815" y="516967"/>
                </a:cubicBezTo>
                <a:cubicBezTo>
                  <a:pt x="4319529" y="659840"/>
                  <a:pt x="4276728" y="704117"/>
                  <a:pt x="4282815" y="864633"/>
                </a:cubicBezTo>
                <a:cubicBezTo>
                  <a:pt x="4273108" y="1002869"/>
                  <a:pt x="4197846" y="1039688"/>
                  <a:pt x="4086770" y="1060678"/>
                </a:cubicBezTo>
                <a:cubicBezTo>
                  <a:pt x="3882608" y="1105709"/>
                  <a:pt x="3753831" y="1014794"/>
                  <a:pt x="3608767" y="1060678"/>
                </a:cubicBezTo>
                <a:cubicBezTo>
                  <a:pt x="3463703" y="1106562"/>
                  <a:pt x="3339739" y="1059977"/>
                  <a:pt x="3091856" y="1060678"/>
                </a:cubicBezTo>
                <a:cubicBezTo>
                  <a:pt x="2843973" y="1061379"/>
                  <a:pt x="2786373" y="1040443"/>
                  <a:pt x="2497131" y="1060678"/>
                </a:cubicBezTo>
                <a:cubicBezTo>
                  <a:pt x="2207890" y="1080913"/>
                  <a:pt x="2020079" y="1006819"/>
                  <a:pt x="1863499" y="1060678"/>
                </a:cubicBezTo>
                <a:cubicBezTo>
                  <a:pt x="1706919" y="1114537"/>
                  <a:pt x="1600598" y="1007028"/>
                  <a:pt x="1346588" y="1060678"/>
                </a:cubicBezTo>
                <a:cubicBezTo>
                  <a:pt x="1092578" y="1114328"/>
                  <a:pt x="922318" y="1049645"/>
                  <a:pt x="751863" y="1060678"/>
                </a:cubicBezTo>
                <a:cubicBezTo>
                  <a:pt x="581409" y="1071711"/>
                  <a:pt x="437354" y="1039701"/>
                  <a:pt x="196045" y="1060678"/>
                </a:cubicBezTo>
                <a:cubicBezTo>
                  <a:pt x="67975" y="1064748"/>
                  <a:pt x="2503" y="986769"/>
                  <a:pt x="0" y="864633"/>
                </a:cubicBezTo>
                <a:cubicBezTo>
                  <a:pt x="-32365" y="725527"/>
                  <a:pt x="35616" y="665626"/>
                  <a:pt x="0" y="523653"/>
                </a:cubicBezTo>
                <a:cubicBezTo>
                  <a:pt x="-35616" y="381680"/>
                  <a:pt x="3149" y="274942"/>
                  <a:pt x="0" y="196045"/>
                </a:cubicBezTo>
                <a:close/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2062788">
                  <a:prstGeom prst="roundRect">
                    <a:avLst>
                      <a:gd name="adj" fmla="val 1848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00A7E8-FBFD-475C-97B5-7D5669C0BC3D}"/>
              </a:ext>
            </a:extLst>
          </p:cNvPr>
          <p:cNvSpPr txBox="1"/>
          <p:nvPr/>
        </p:nvSpPr>
        <p:spPr>
          <a:xfrm>
            <a:off x="6835900" y="3270103"/>
            <a:ext cx="38277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cs typeface="Times New Roman" panose="02020603050405020304" pitchFamily="18" charset="0"/>
              </a:rPr>
              <a:t>Тепловые эффекты в н-о кристалле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DB7BA8-5DDB-4EC5-85B3-DE51105E1477}"/>
              </a:ext>
            </a:extLst>
          </p:cNvPr>
          <p:cNvSpPr txBox="1"/>
          <p:nvPr/>
        </p:nvSpPr>
        <p:spPr>
          <a:xfrm>
            <a:off x="134472" y="4048099"/>
            <a:ext cx="684903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Высокая пиковая мощность оптических импульсов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Взаимное влияние импульсов </a:t>
            </a:r>
            <a:r>
              <a:rPr lang="ru-RU" sz="2200" dirty="0">
                <a:cs typeface="Times New Roman" panose="02020603050405020304" pitchFamily="18" charset="0"/>
              </a:rPr>
              <a:t>на двух длинах волн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Практичность → большая длина волокна доставки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Следствие: </a:t>
            </a:r>
            <a:r>
              <a:rPr lang="ru-RU" sz="2200" b="1" dirty="0">
                <a:cs typeface="Times New Roman" panose="02020603050405020304" pitchFamily="18" charset="0"/>
              </a:rPr>
              <a:t>нелинейные эффекты второго и третьего порядка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655A0E-4618-4811-B21A-8C5A0B2AE727}"/>
              </a:ext>
            </a:extLst>
          </p:cNvPr>
          <p:cNvSpPr txBox="1"/>
          <p:nvPr/>
        </p:nvSpPr>
        <p:spPr>
          <a:xfrm>
            <a:off x="7135906" y="4048099"/>
            <a:ext cx="46706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Разогрев за счёт оптического поглощения → необходимость прецизионного определения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07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1DF57-AB92-46DA-A4C2-0C40F60D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66DEA6-5FB1-40BE-9E5C-76897618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Целью</a:t>
            </a:r>
            <a:r>
              <a:rPr lang="ru-RU" dirty="0"/>
              <a:t> диссертационной работы является исследование н-о эффектов второго и третьего порядка, развивающихся в ОВ доставки излучения, а также разработка подходов к повышению точности измерения коэффициента оптического поглощения в н-о кристаллах для источника излучения на длине волны вблизи 3 мкм.</a:t>
            </a:r>
          </a:p>
          <a:p>
            <a:pPr marL="0" indent="0">
              <a:buNone/>
            </a:pPr>
            <a:r>
              <a:rPr lang="uk-UA" b="1" dirty="0" err="1"/>
              <a:t>Задачи</a:t>
            </a:r>
            <a:r>
              <a:rPr lang="uk-UA" b="1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выяснить причины взаимного влияния процессов четырёхволнового смешения при распространении синхронизированных оптических импульсов двухволнового лазерного источника в маломодовом ОВ и разработать математическую модель, описывающую это взаимодействие;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исследовать эволюцию кривых фазового синхронизма при фотоиндуцированной генерации второй гармоники в оптическом волокне в процессе формирования решётки нелинейной поляризуемости второго порядка и сопоставить экспериментальные результаты с модельными;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проанализировать основные источники погрешности измерения коэффициента оптического поглощения в нелинейно-оптических кристаллах методом ПРЛК и предложить способы их компенсации.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439388-265C-4DE6-B9D4-4155175E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94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Четырёхволновое </a:t>
            </a:r>
            <a:r>
              <a:rPr lang="uk-UA" dirty="0" err="1"/>
              <a:t>смешение</a:t>
            </a:r>
            <a:r>
              <a:rPr lang="uk-UA" dirty="0"/>
              <a:t> (ЧВС)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5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838197" y="1384303"/>
            <a:ext cx="772668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Нелинейно-оптический эффект взаимодействия волн с частотами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1</a:t>
            </a:r>
            <a:r>
              <a:rPr lang="en-US" sz="2200" b="0" dirty="0">
                <a:cs typeface="Times New Roman" panose="02020603050405020304" pitchFamily="18" charset="0"/>
              </a:rPr>
              <a:t> </a:t>
            </a:r>
            <a:r>
              <a:rPr lang="ru-RU" sz="2200" b="0" dirty="0">
                <a:cs typeface="Times New Roman" panose="02020603050405020304" pitchFamily="18" charset="0"/>
              </a:rPr>
              <a:t>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2</a:t>
            </a:r>
            <a:r>
              <a:rPr lang="en-US" sz="2200" b="0" dirty="0">
                <a:cs typeface="Times New Roman" panose="02020603050405020304" pitchFamily="18" charset="0"/>
              </a:rPr>
              <a:t> (</a:t>
            </a:r>
            <a:r>
              <a:rPr lang="ru-RU" sz="2200" b="0" dirty="0">
                <a:cs typeface="Times New Roman" panose="02020603050405020304" pitchFamily="18" charset="0"/>
              </a:rPr>
              <a:t>накачка), приводящий к образованию пары волн с частотами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3</a:t>
            </a:r>
            <a:r>
              <a:rPr lang="en-US" sz="2200" b="0" dirty="0">
                <a:cs typeface="Times New Roman" panose="02020603050405020304" pitchFamily="18" charset="0"/>
              </a:rPr>
              <a:t> </a:t>
            </a:r>
            <a:r>
              <a:rPr lang="ru-RU" sz="2200" b="0" dirty="0">
                <a:cs typeface="Times New Roman" panose="02020603050405020304" pitchFamily="18" charset="0"/>
              </a:rPr>
              <a:t>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4</a:t>
            </a:r>
            <a:r>
              <a:rPr lang="en-US" sz="2200" b="0" dirty="0">
                <a:cs typeface="Times New Roman" panose="02020603050405020304" pitchFamily="18" charset="0"/>
              </a:rPr>
              <a:t> (</a:t>
            </a:r>
            <a:r>
              <a:rPr lang="ru-RU" sz="2200" b="0" dirty="0">
                <a:cs typeface="Times New Roman" panose="02020603050405020304" pitchFamily="18" charset="0"/>
              </a:rPr>
              <a:t>антистоксовая и стоксовая компоненты)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Возникает из-за ненулевой восприимчивости 3 порядка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DEF35DEC-0D33-483C-BDAC-EDE95BDC0837}"/>
              </a:ext>
            </a:extLst>
          </p:cNvPr>
          <p:cNvGrpSpPr/>
          <p:nvPr/>
        </p:nvGrpSpPr>
        <p:grpSpPr>
          <a:xfrm>
            <a:off x="900797" y="3212854"/>
            <a:ext cx="5257803" cy="504000"/>
            <a:chOff x="888657" y="3069000"/>
            <a:chExt cx="7176773" cy="720000"/>
          </a:xfrm>
        </p:grpSpPr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73B48FF1-C29C-4C53-8EBA-81FF3B288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8657" y="3069000"/>
              <a:ext cx="7176773" cy="720000"/>
            </a:xfrm>
            <a:prstGeom prst="rect">
              <a:avLst/>
            </a:prstGeom>
          </p:spPr>
        </p:pic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E980235A-E0AA-4104-9660-838ADFC2ECD4}"/>
                </a:ext>
              </a:extLst>
            </p:cNvPr>
            <p:cNvSpPr/>
            <p:nvPr/>
          </p:nvSpPr>
          <p:spPr bwMode="auto">
            <a:xfrm>
              <a:off x="5391909" y="3120765"/>
              <a:ext cx="584711" cy="585996"/>
            </a:xfrm>
            <a:prstGeom prst="roundRect">
              <a:avLst/>
            </a:prstGeom>
            <a:solidFill>
              <a:srgbClr val="00E4A8">
                <a:alpha val="10196"/>
              </a:srgbClr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DD41A3A-8C40-4E6E-B40E-E45F12C6DBAF}"/>
              </a:ext>
            </a:extLst>
          </p:cNvPr>
          <p:cNvSpPr txBox="1"/>
          <p:nvPr/>
        </p:nvSpPr>
        <p:spPr>
          <a:xfrm>
            <a:off x="838197" y="365928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Некоторые из частот могут совпадать (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1</a:t>
            </a:r>
            <a:r>
              <a:rPr lang="en-US" sz="2200" b="0" dirty="0">
                <a:cs typeface="Times New Roman" panose="02020603050405020304" pitchFamily="18" charset="0"/>
              </a:rPr>
              <a:t>=f</a:t>
            </a:r>
            <a:r>
              <a:rPr lang="en-US" sz="2200" b="0" baseline="-25000" dirty="0">
                <a:cs typeface="Times New Roman" panose="02020603050405020304" pitchFamily="18" charset="0"/>
              </a:rPr>
              <a:t>2</a:t>
            </a:r>
            <a:r>
              <a:rPr lang="en-US" sz="2200" b="0" dirty="0">
                <a:cs typeface="Times New Roman" panose="02020603050405020304" pitchFamily="18" charset="0"/>
              </a:rPr>
              <a:t>→</a:t>
            </a:r>
            <a:r>
              <a:rPr lang="ru-RU" sz="2200" b="0" dirty="0">
                <a:cs typeface="Times New Roman" panose="02020603050405020304" pitchFamily="18" charset="0"/>
              </a:rPr>
              <a:t>вырожденное ЧВС)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ЗСЭ: </a:t>
            </a:r>
            <a:r>
              <a:rPr lang="en-US" sz="2200" b="1" dirty="0">
                <a:cs typeface="Times New Roman" panose="02020603050405020304" pitchFamily="18" charset="0"/>
              </a:rPr>
              <a:t>f</a:t>
            </a:r>
            <a:r>
              <a:rPr lang="en-US" sz="2200" b="1" baseline="-25000" dirty="0">
                <a:cs typeface="Times New Roman" panose="02020603050405020304" pitchFamily="18" charset="0"/>
              </a:rPr>
              <a:t>1</a:t>
            </a:r>
            <a:r>
              <a:rPr lang="en-US" sz="2200" b="1" dirty="0">
                <a:cs typeface="Times New Roman" panose="02020603050405020304" pitchFamily="18" charset="0"/>
              </a:rPr>
              <a:t> + f</a:t>
            </a:r>
            <a:r>
              <a:rPr lang="en-US" sz="2200" b="1" baseline="-25000" dirty="0">
                <a:cs typeface="Times New Roman" panose="02020603050405020304" pitchFamily="18" charset="0"/>
              </a:rPr>
              <a:t>2</a:t>
            </a:r>
            <a:r>
              <a:rPr lang="en-US" sz="2200" b="1" dirty="0">
                <a:cs typeface="Times New Roman" panose="02020603050405020304" pitchFamily="18" charset="0"/>
              </a:rPr>
              <a:t> = f</a:t>
            </a:r>
            <a:r>
              <a:rPr lang="en-US" sz="2200" b="1" baseline="-25000" dirty="0">
                <a:cs typeface="Times New Roman" panose="02020603050405020304" pitchFamily="18" charset="0"/>
              </a:rPr>
              <a:t>3</a:t>
            </a:r>
            <a:r>
              <a:rPr lang="en-US" sz="2200" b="1" dirty="0">
                <a:cs typeface="Times New Roman" panose="02020603050405020304" pitchFamily="18" charset="0"/>
              </a:rPr>
              <a:t> + f</a:t>
            </a:r>
            <a:r>
              <a:rPr lang="en-US" sz="2200" b="1" baseline="-25000" dirty="0">
                <a:cs typeface="Times New Roman" panose="02020603050405020304" pitchFamily="18" charset="0"/>
              </a:rPr>
              <a:t>4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Условие фазового синхронизма:</a:t>
            </a:r>
          </a:p>
        </p:txBody>
      </p:sp>
      <p:pic>
        <p:nvPicPr>
          <p:cNvPr id="39" name="Picture 2" descr="FWM energy level diagram">
            <a:extLst>
              <a:ext uri="{FF2B5EF4-FFF2-40B4-BE49-F238E27FC236}">
                <a16:creationId xmlns:a16="http://schemas.microsoft.com/office/drawing/2014/main" id="{2D3C055C-40D8-4A10-A0DC-7F51A4D6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880" y="1305296"/>
            <a:ext cx="3369460" cy="265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09FDED-126D-4C02-A48F-91FFFD6777BB}"/>
                  </a:ext>
                </a:extLst>
              </p:cNvPr>
              <p:cNvSpPr txBox="1"/>
              <p:nvPr/>
            </p:nvSpPr>
            <p:spPr>
              <a:xfrm>
                <a:off x="243840" y="5138022"/>
                <a:ext cx="6096000" cy="906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00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f>
                        <m:fPr>
                          <m:ctrlPr>
                            <a:rPr lang="ru-RU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18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ru-RU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с</m:t>
                          </m:r>
                        </m:den>
                      </m:f>
                      <m:r>
                        <a:rPr lang="ru-RU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r>
                        <a:rPr lang="en-US" sz="1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sub>
                      </m:sSub>
                      <m:r>
                        <a:rPr lang="ru-RU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09FDED-126D-4C02-A48F-91FFFD677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5138022"/>
                <a:ext cx="6096000" cy="906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F553B73C-2B95-4392-8F11-2B126B010DDC}"/>
              </a:ext>
            </a:extLst>
          </p:cNvPr>
          <p:cNvGrpSpPr/>
          <p:nvPr/>
        </p:nvGrpSpPr>
        <p:grpSpPr>
          <a:xfrm>
            <a:off x="8610600" y="3716854"/>
            <a:ext cx="3369461" cy="2483493"/>
            <a:chOff x="7544069" y="1825625"/>
            <a:chExt cx="4100846" cy="3021014"/>
          </a:xfrm>
        </p:grpSpPr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6DCC8722-80D8-4BA3-B038-A53BABD640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-2085" b="15713"/>
            <a:stretch/>
          </p:blipFill>
          <p:spPr>
            <a:xfrm>
              <a:off x="7544069" y="1825625"/>
              <a:ext cx="3809730" cy="273008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643C824-2BDD-40B0-9719-B0580A2EAE6C}"/>
                </a:ext>
              </a:extLst>
            </p:cNvPr>
            <p:cNvSpPr txBox="1"/>
            <p:nvPr/>
          </p:nvSpPr>
          <p:spPr>
            <a:xfrm>
              <a:off x="7980872" y="4375373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3</a:t>
              </a:r>
              <a:endParaRPr lang="ru-RU"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4738987-B7B3-49F0-A6A0-C53AC175496C}"/>
                </a:ext>
              </a:extLst>
            </p:cNvPr>
            <p:cNvSpPr txBox="1"/>
            <p:nvPr/>
          </p:nvSpPr>
          <p:spPr>
            <a:xfrm>
              <a:off x="8607725" y="4375372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1</a:t>
              </a:r>
              <a:endParaRPr lang="ru-RU" sz="2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AC2BC7-DB10-4F24-B3D9-47A5545CD728}"/>
                </a:ext>
              </a:extLst>
            </p:cNvPr>
            <p:cNvSpPr txBox="1"/>
            <p:nvPr/>
          </p:nvSpPr>
          <p:spPr>
            <a:xfrm>
              <a:off x="9234578" y="4383866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2</a:t>
              </a:r>
              <a:endParaRPr lang="ru-RU" sz="2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71EC46C-7841-40A9-B507-D54D11F6E3E2}"/>
                </a:ext>
              </a:extLst>
            </p:cNvPr>
            <p:cNvSpPr txBox="1"/>
            <p:nvPr/>
          </p:nvSpPr>
          <p:spPr>
            <a:xfrm>
              <a:off x="9861431" y="4384974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4</a:t>
              </a:r>
              <a:endParaRPr lang="ru-RU" sz="2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D4542FD-8D9D-43E6-8572-39D7519D47D8}"/>
                </a:ext>
              </a:extLst>
            </p:cNvPr>
            <p:cNvSpPr txBox="1"/>
            <p:nvPr/>
          </p:nvSpPr>
          <p:spPr>
            <a:xfrm>
              <a:off x="10715878" y="4417207"/>
              <a:ext cx="9290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Частота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601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Взаимное влияние ОМЧВС и ММЧВС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6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780958" y="5219671"/>
            <a:ext cx="772668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Проверка: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Спектр при известном </a:t>
            </a:r>
            <a:r>
              <a:rPr lang="ru-RU" sz="2200" b="0" dirty="0" err="1">
                <a:cs typeface="Times New Roman" panose="02020603050405020304" pitchFamily="18" charset="0"/>
              </a:rPr>
              <a:t>модовом</a:t>
            </a:r>
            <a:r>
              <a:rPr lang="ru-RU" sz="2200" b="0" dirty="0">
                <a:cs typeface="Times New Roman" panose="02020603050405020304" pitchFamily="18" charset="0"/>
              </a:rPr>
              <a:t> состав</a:t>
            </a:r>
            <a:r>
              <a:rPr lang="ru-RU" sz="2200" dirty="0">
                <a:cs typeface="Times New Roman" panose="02020603050405020304" pitchFamily="18" charset="0"/>
              </a:rPr>
              <a:t>е;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 err="1">
                <a:cs typeface="Times New Roman" panose="02020603050405020304" pitchFamily="18" charset="0"/>
              </a:rPr>
              <a:t>Модовый</a:t>
            </a:r>
            <a:r>
              <a:rPr lang="ru-RU" sz="2200" b="0" dirty="0">
                <a:cs typeface="Times New Roman" panose="02020603050405020304" pitchFamily="18" charset="0"/>
              </a:rPr>
              <a:t> состав при известном спектре</a:t>
            </a:r>
            <a:r>
              <a:rPr lang="ru-RU" sz="2200" dirty="0"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Численный расчёт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E810CED-7761-4861-B953-D484BCCF0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198" y="1606669"/>
            <a:ext cx="7213309" cy="2880000"/>
          </a:xfrm>
          <a:prstGeom prst="rect">
            <a:avLst/>
          </a:prstGeom>
        </p:spPr>
      </p:pic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B6414DC-5ABF-4891-8056-076643FC23CD}"/>
              </a:ext>
            </a:extLst>
          </p:cNvPr>
          <p:cNvCxnSpPr/>
          <p:nvPr/>
        </p:nvCxnSpPr>
        <p:spPr bwMode="auto">
          <a:xfrm>
            <a:off x="4644301" y="1385097"/>
            <a:ext cx="0" cy="4705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10563CB-F23A-475F-9323-7A7EA1D30CFD}"/>
              </a:ext>
            </a:extLst>
          </p:cNvPr>
          <p:cNvCxnSpPr>
            <a:cxnSpLocks/>
          </p:cNvCxnSpPr>
          <p:nvPr/>
        </p:nvCxnSpPr>
        <p:spPr bwMode="auto">
          <a:xfrm flipH="1">
            <a:off x="3846860" y="1385097"/>
            <a:ext cx="797442" cy="13671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5DF4A00-85D9-43CD-ACD7-C165FD6D964B}"/>
              </a:ext>
            </a:extLst>
          </p:cNvPr>
          <p:cNvCxnSpPr>
            <a:cxnSpLocks/>
          </p:cNvCxnSpPr>
          <p:nvPr/>
        </p:nvCxnSpPr>
        <p:spPr bwMode="auto">
          <a:xfrm>
            <a:off x="4644301" y="1390117"/>
            <a:ext cx="797441" cy="11480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2C97B5D-9714-4695-928F-DD1D8BEB5971}"/>
              </a:ext>
            </a:extLst>
          </p:cNvPr>
          <p:cNvCxnSpPr>
            <a:cxnSpLocks/>
          </p:cNvCxnSpPr>
          <p:nvPr/>
        </p:nvCxnSpPr>
        <p:spPr bwMode="auto">
          <a:xfrm>
            <a:off x="6186244" y="1515413"/>
            <a:ext cx="382730" cy="77718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817FEE1-4388-43FC-A363-72A58C6ABBE1}"/>
              </a:ext>
            </a:extLst>
          </p:cNvPr>
          <p:cNvCxnSpPr>
            <a:cxnSpLocks/>
          </p:cNvCxnSpPr>
          <p:nvPr/>
        </p:nvCxnSpPr>
        <p:spPr bwMode="auto">
          <a:xfrm flipH="1">
            <a:off x="4644300" y="1515413"/>
            <a:ext cx="1541944" cy="5143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FCA1AED-A865-47C8-8CF3-FBF145B9DFD7}"/>
              </a:ext>
            </a:extLst>
          </p:cNvPr>
          <p:cNvCxnSpPr>
            <a:cxnSpLocks/>
          </p:cNvCxnSpPr>
          <p:nvPr/>
        </p:nvCxnSpPr>
        <p:spPr bwMode="auto">
          <a:xfrm>
            <a:off x="6186244" y="1515413"/>
            <a:ext cx="2043356" cy="206673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C625C03-D4B2-48BC-82C5-1048D5F482F7}"/>
              </a:ext>
            </a:extLst>
          </p:cNvPr>
          <p:cNvCxnSpPr>
            <a:cxnSpLocks/>
          </p:cNvCxnSpPr>
          <p:nvPr/>
        </p:nvCxnSpPr>
        <p:spPr bwMode="auto">
          <a:xfrm flipH="1">
            <a:off x="3846860" y="1515413"/>
            <a:ext cx="2339385" cy="128926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0F3E39-3532-44F7-B7D5-9AEDA5A3D910}"/>
              </a:ext>
            </a:extLst>
          </p:cNvPr>
          <p:cNvSpPr txBox="1"/>
          <p:nvPr/>
        </p:nvSpPr>
        <p:spPr>
          <a:xfrm>
            <a:off x="4010646" y="127271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(1)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94F542-50A9-4E50-BD07-B0D2DAD390C5}"/>
              </a:ext>
            </a:extLst>
          </p:cNvPr>
          <p:cNvSpPr txBox="1"/>
          <p:nvPr/>
        </p:nvSpPr>
        <p:spPr>
          <a:xfrm>
            <a:off x="6303546" y="126522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(2)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0BF0C9A-FA4B-46BA-96C1-FF09D4254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00" y="4505417"/>
            <a:ext cx="5400000" cy="1037115"/>
          </a:xfrm>
          <a:custGeom>
            <a:avLst/>
            <a:gdLst>
              <a:gd name="connsiteX0" fmla="*/ 0 w 5400000"/>
              <a:gd name="connsiteY0" fmla="*/ 0 h 1037115"/>
              <a:gd name="connsiteX1" fmla="*/ 675000 w 5400000"/>
              <a:gd name="connsiteY1" fmla="*/ 0 h 1037115"/>
              <a:gd name="connsiteX2" fmla="*/ 1404000 w 5400000"/>
              <a:gd name="connsiteY2" fmla="*/ 0 h 1037115"/>
              <a:gd name="connsiteX3" fmla="*/ 2079000 w 5400000"/>
              <a:gd name="connsiteY3" fmla="*/ 0 h 1037115"/>
              <a:gd name="connsiteX4" fmla="*/ 2592000 w 5400000"/>
              <a:gd name="connsiteY4" fmla="*/ 0 h 1037115"/>
              <a:gd name="connsiteX5" fmla="*/ 3159000 w 5400000"/>
              <a:gd name="connsiteY5" fmla="*/ 0 h 1037115"/>
              <a:gd name="connsiteX6" fmla="*/ 3942000 w 5400000"/>
              <a:gd name="connsiteY6" fmla="*/ 0 h 1037115"/>
              <a:gd name="connsiteX7" fmla="*/ 4617000 w 5400000"/>
              <a:gd name="connsiteY7" fmla="*/ 0 h 1037115"/>
              <a:gd name="connsiteX8" fmla="*/ 5400000 w 5400000"/>
              <a:gd name="connsiteY8" fmla="*/ 0 h 1037115"/>
              <a:gd name="connsiteX9" fmla="*/ 5400000 w 5400000"/>
              <a:gd name="connsiteY9" fmla="*/ 508186 h 1037115"/>
              <a:gd name="connsiteX10" fmla="*/ 5400000 w 5400000"/>
              <a:gd name="connsiteY10" fmla="*/ 1037115 h 1037115"/>
              <a:gd name="connsiteX11" fmla="*/ 4671000 w 5400000"/>
              <a:gd name="connsiteY11" fmla="*/ 1037115 h 1037115"/>
              <a:gd name="connsiteX12" fmla="*/ 4104000 w 5400000"/>
              <a:gd name="connsiteY12" fmla="*/ 1037115 h 1037115"/>
              <a:gd name="connsiteX13" fmla="*/ 3321000 w 5400000"/>
              <a:gd name="connsiteY13" fmla="*/ 1037115 h 1037115"/>
              <a:gd name="connsiteX14" fmla="*/ 2538000 w 5400000"/>
              <a:gd name="connsiteY14" fmla="*/ 1037115 h 1037115"/>
              <a:gd name="connsiteX15" fmla="*/ 1755000 w 5400000"/>
              <a:gd name="connsiteY15" fmla="*/ 1037115 h 1037115"/>
              <a:gd name="connsiteX16" fmla="*/ 1242000 w 5400000"/>
              <a:gd name="connsiteY16" fmla="*/ 1037115 h 1037115"/>
              <a:gd name="connsiteX17" fmla="*/ 621000 w 5400000"/>
              <a:gd name="connsiteY17" fmla="*/ 1037115 h 1037115"/>
              <a:gd name="connsiteX18" fmla="*/ 0 w 5400000"/>
              <a:gd name="connsiteY18" fmla="*/ 1037115 h 1037115"/>
              <a:gd name="connsiteX19" fmla="*/ 0 w 5400000"/>
              <a:gd name="connsiteY19" fmla="*/ 508186 h 1037115"/>
              <a:gd name="connsiteX20" fmla="*/ 0 w 5400000"/>
              <a:gd name="connsiteY20" fmla="*/ 0 h 1037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400000" h="1037115" fill="none" extrusionOk="0">
                <a:moveTo>
                  <a:pt x="0" y="0"/>
                </a:moveTo>
                <a:cubicBezTo>
                  <a:pt x="157808" y="15401"/>
                  <a:pt x="538484" y="29195"/>
                  <a:pt x="675000" y="0"/>
                </a:cubicBezTo>
                <a:cubicBezTo>
                  <a:pt x="811516" y="-29195"/>
                  <a:pt x="1107503" y="30677"/>
                  <a:pt x="1404000" y="0"/>
                </a:cubicBezTo>
                <a:cubicBezTo>
                  <a:pt x="1700497" y="-30677"/>
                  <a:pt x="1895784" y="-9924"/>
                  <a:pt x="2079000" y="0"/>
                </a:cubicBezTo>
                <a:cubicBezTo>
                  <a:pt x="2262216" y="9924"/>
                  <a:pt x="2447729" y="16868"/>
                  <a:pt x="2592000" y="0"/>
                </a:cubicBezTo>
                <a:cubicBezTo>
                  <a:pt x="2736271" y="-16868"/>
                  <a:pt x="2917709" y="5839"/>
                  <a:pt x="3159000" y="0"/>
                </a:cubicBezTo>
                <a:cubicBezTo>
                  <a:pt x="3400291" y="-5839"/>
                  <a:pt x="3573810" y="38373"/>
                  <a:pt x="3942000" y="0"/>
                </a:cubicBezTo>
                <a:cubicBezTo>
                  <a:pt x="4310190" y="-38373"/>
                  <a:pt x="4469768" y="5806"/>
                  <a:pt x="4617000" y="0"/>
                </a:cubicBezTo>
                <a:cubicBezTo>
                  <a:pt x="4764232" y="-5806"/>
                  <a:pt x="5212896" y="14925"/>
                  <a:pt x="5400000" y="0"/>
                </a:cubicBezTo>
                <a:cubicBezTo>
                  <a:pt x="5401699" y="170343"/>
                  <a:pt x="5399976" y="268856"/>
                  <a:pt x="5400000" y="508186"/>
                </a:cubicBezTo>
                <a:cubicBezTo>
                  <a:pt x="5400024" y="747516"/>
                  <a:pt x="5419433" y="912838"/>
                  <a:pt x="5400000" y="1037115"/>
                </a:cubicBezTo>
                <a:cubicBezTo>
                  <a:pt x="5182169" y="1064640"/>
                  <a:pt x="4986394" y="1058815"/>
                  <a:pt x="4671000" y="1037115"/>
                </a:cubicBezTo>
                <a:cubicBezTo>
                  <a:pt x="4355606" y="1015415"/>
                  <a:pt x="4246945" y="1017671"/>
                  <a:pt x="4104000" y="1037115"/>
                </a:cubicBezTo>
                <a:cubicBezTo>
                  <a:pt x="3961055" y="1056559"/>
                  <a:pt x="3697314" y="1012562"/>
                  <a:pt x="3321000" y="1037115"/>
                </a:cubicBezTo>
                <a:cubicBezTo>
                  <a:pt x="2944686" y="1061668"/>
                  <a:pt x="2877990" y="999829"/>
                  <a:pt x="2538000" y="1037115"/>
                </a:cubicBezTo>
                <a:cubicBezTo>
                  <a:pt x="2198010" y="1074401"/>
                  <a:pt x="1983922" y="1023284"/>
                  <a:pt x="1755000" y="1037115"/>
                </a:cubicBezTo>
                <a:cubicBezTo>
                  <a:pt x="1526078" y="1050946"/>
                  <a:pt x="1378752" y="1054600"/>
                  <a:pt x="1242000" y="1037115"/>
                </a:cubicBezTo>
                <a:cubicBezTo>
                  <a:pt x="1105248" y="1019630"/>
                  <a:pt x="766834" y="1053463"/>
                  <a:pt x="621000" y="1037115"/>
                </a:cubicBezTo>
                <a:cubicBezTo>
                  <a:pt x="475166" y="1020767"/>
                  <a:pt x="227673" y="1055396"/>
                  <a:pt x="0" y="1037115"/>
                </a:cubicBezTo>
                <a:cubicBezTo>
                  <a:pt x="14654" y="889720"/>
                  <a:pt x="13326" y="693470"/>
                  <a:pt x="0" y="508186"/>
                </a:cubicBezTo>
                <a:cubicBezTo>
                  <a:pt x="-13326" y="322902"/>
                  <a:pt x="18499" y="126793"/>
                  <a:pt x="0" y="0"/>
                </a:cubicBezTo>
                <a:close/>
              </a:path>
              <a:path w="5400000" h="1037115" stroke="0" extrusionOk="0">
                <a:moveTo>
                  <a:pt x="0" y="0"/>
                </a:moveTo>
                <a:cubicBezTo>
                  <a:pt x="252472" y="34588"/>
                  <a:pt x="435784" y="23243"/>
                  <a:pt x="783000" y="0"/>
                </a:cubicBezTo>
                <a:cubicBezTo>
                  <a:pt x="1130216" y="-23243"/>
                  <a:pt x="1144116" y="-3348"/>
                  <a:pt x="1350000" y="0"/>
                </a:cubicBezTo>
                <a:cubicBezTo>
                  <a:pt x="1555884" y="3348"/>
                  <a:pt x="1760918" y="5844"/>
                  <a:pt x="1971000" y="0"/>
                </a:cubicBezTo>
                <a:cubicBezTo>
                  <a:pt x="2181082" y="-5844"/>
                  <a:pt x="2394764" y="-18086"/>
                  <a:pt x="2592000" y="0"/>
                </a:cubicBezTo>
                <a:cubicBezTo>
                  <a:pt x="2789236" y="18086"/>
                  <a:pt x="3017291" y="2768"/>
                  <a:pt x="3213000" y="0"/>
                </a:cubicBezTo>
                <a:cubicBezTo>
                  <a:pt x="3408709" y="-2768"/>
                  <a:pt x="3612169" y="-1366"/>
                  <a:pt x="3780000" y="0"/>
                </a:cubicBezTo>
                <a:cubicBezTo>
                  <a:pt x="3947831" y="1366"/>
                  <a:pt x="4373864" y="-35227"/>
                  <a:pt x="4563000" y="0"/>
                </a:cubicBezTo>
                <a:cubicBezTo>
                  <a:pt x="4752136" y="35227"/>
                  <a:pt x="5134854" y="15669"/>
                  <a:pt x="5400000" y="0"/>
                </a:cubicBezTo>
                <a:cubicBezTo>
                  <a:pt x="5418742" y="210441"/>
                  <a:pt x="5416462" y="331800"/>
                  <a:pt x="5400000" y="487444"/>
                </a:cubicBezTo>
                <a:cubicBezTo>
                  <a:pt x="5383538" y="643088"/>
                  <a:pt x="5414512" y="834048"/>
                  <a:pt x="5400000" y="1037115"/>
                </a:cubicBezTo>
                <a:cubicBezTo>
                  <a:pt x="5235500" y="1058599"/>
                  <a:pt x="4907952" y="1050763"/>
                  <a:pt x="4725000" y="1037115"/>
                </a:cubicBezTo>
                <a:cubicBezTo>
                  <a:pt x="4542048" y="1023467"/>
                  <a:pt x="4248269" y="1021798"/>
                  <a:pt x="4050000" y="1037115"/>
                </a:cubicBezTo>
                <a:cubicBezTo>
                  <a:pt x="3851731" y="1052432"/>
                  <a:pt x="3518276" y="1020137"/>
                  <a:pt x="3375000" y="1037115"/>
                </a:cubicBezTo>
                <a:cubicBezTo>
                  <a:pt x="3231724" y="1054093"/>
                  <a:pt x="3058385" y="1064166"/>
                  <a:pt x="2808000" y="1037115"/>
                </a:cubicBezTo>
                <a:cubicBezTo>
                  <a:pt x="2557615" y="1010064"/>
                  <a:pt x="2291239" y="1059145"/>
                  <a:pt x="2079000" y="1037115"/>
                </a:cubicBezTo>
                <a:cubicBezTo>
                  <a:pt x="1866761" y="1015085"/>
                  <a:pt x="1647664" y="1063294"/>
                  <a:pt x="1512000" y="1037115"/>
                </a:cubicBezTo>
                <a:cubicBezTo>
                  <a:pt x="1376336" y="1010936"/>
                  <a:pt x="1018041" y="1014129"/>
                  <a:pt x="891000" y="1037115"/>
                </a:cubicBezTo>
                <a:cubicBezTo>
                  <a:pt x="763959" y="1060101"/>
                  <a:pt x="219349" y="999566"/>
                  <a:pt x="0" y="1037115"/>
                </a:cubicBezTo>
                <a:cubicBezTo>
                  <a:pt x="23918" y="920329"/>
                  <a:pt x="12441" y="762990"/>
                  <a:pt x="0" y="508186"/>
                </a:cubicBezTo>
                <a:cubicBezTo>
                  <a:pt x="-12441" y="253382"/>
                  <a:pt x="-7897" y="202499"/>
                  <a:pt x="0" y="0"/>
                </a:cubicBezTo>
                <a:close/>
              </a:path>
            </a:pathLst>
          </a:custGeom>
          <a:ln w="19050">
            <a:solidFill>
              <a:srgbClr val="C00000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A7B259-7CC0-4975-AB25-034C02009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2200" y="4304695"/>
            <a:ext cx="1080000" cy="14235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4DFA9B-23A7-4E7F-89D7-519C7B312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200" y="4273335"/>
            <a:ext cx="1080000" cy="150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1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модель ЧВС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76327A-284A-46A2-A0EE-EEF065D34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69000"/>
            <a:ext cx="5779199" cy="252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CEC60C-F535-4A5E-90A7-66F31958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62" y="1846270"/>
            <a:ext cx="5714638" cy="298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4E5DF8-341C-4FF8-A5A0-EE5F7439C1EA}"/>
              </a:ext>
            </a:extLst>
          </p:cNvPr>
          <p:cNvSpPr txBox="1"/>
          <p:nvPr/>
        </p:nvSpPr>
        <p:spPr>
          <a:xfrm>
            <a:off x="6185647" y="4689000"/>
            <a:ext cx="59077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Рассчитанные спектры двухволнового лазера для несинхронизированных (только ММЧВС, чёрный) и синхронизированных (ОМЧВС и ММЧВС, красный) импульсов</a:t>
            </a:r>
          </a:p>
        </p:txBody>
      </p:sp>
    </p:spTree>
    <p:extLst>
      <p:ext uri="{BB962C8B-B14F-4D97-AF65-F5344CB8AC3E}">
        <p14:creationId xmlns:p14="http://schemas.microsoft.com/office/powerpoint/2010/main" val="106220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Подавление</a:t>
            </a:r>
            <a:r>
              <a:rPr lang="uk-UA" dirty="0"/>
              <a:t> ММЧВС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76327A-284A-46A2-A0EE-EEF065D34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0709" y="2169000"/>
            <a:ext cx="4929781" cy="25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4E5DF8-341C-4FF8-A5A0-EE5F7439C1EA}"/>
              </a:ext>
            </a:extLst>
          </p:cNvPr>
          <p:cNvSpPr txBox="1"/>
          <p:nvPr/>
        </p:nvSpPr>
        <p:spPr>
          <a:xfrm>
            <a:off x="6185647" y="4689000"/>
            <a:ext cx="59077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Зависимость нормированной эффективности ГРЧ от длины ОВ при использовании МФ на входе ОВ (чёрные точки), без использования МФ (синие точки)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57272F-3D98-4E26-8A31-4207D4C0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39" y="2504980"/>
            <a:ext cx="5841039" cy="144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CE480B-CAA8-44DB-A4FD-D77500F7C1EB}"/>
              </a:ext>
            </a:extLst>
          </p:cNvPr>
          <p:cNvSpPr txBox="1"/>
          <p:nvPr/>
        </p:nvSpPr>
        <p:spPr>
          <a:xfrm>
            <a:off x="277906" y="4689000"/>
            <a:ext cx="5907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МФ – </a:t>
            </a:r>
            <a:r>
              <a:rPr lang="ru-RU" dirty="0" err="1"/>
              <a:t>модовый</a:t>
            </a:r>
            <a:r>
              <a:rPr lang="ru-RU" dirty="0"/>
              <a:t> фильтр. Участок одномодового волокна с согласованным </a:t>
            </a:r>
            <a:r>
              <a:rPr lang="en-US" dirty="0"/>
              <a:t>MFD </a:t>
            </a:r>
            <a:r>
              <a:rPr lang="ru-RU" dirty="0"/>
              <a:t>по основной моде</a:t>
            </a:r>
          </a:p>
        </p:txBody>
      </p:sp>
    </p:spTree>
    <p:extLst>
      <p:ext uri="{BB962C8B-B14F-4D97-AF65-F5344CB8AC3E}">
        <p14:creationId xmlns:p14="http://schemas.microsoft.com/office/powerpoint/2010/main" val="890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Фазовый синхронизм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FBAE13-1597-4DAF-8F69-679978D9A506}"/>
              </a:ext>
            </a:extLst>
          </p:cNvPr>
          <p:cNvSpPr/>
          <p:nvPr/>
        </p:nvSpPr>
        <p:spPr>
          <a:xfrm>
            <a:off x="959546" y="6311900"/>
            <a:ext cx="79660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0" i="1" dirty="0">
                <a:solidFill>
                  <a:srgbClr val="222222"/>
                </a:solidFill>
                <a:effectLst/>
              </a:rPr>
              <a:t>Дмитриев В. Г., Тарасов Л. В. </a:t>
            </a:r>
            <a:r>
              <a:rPr lang="ru-RU" sz="1400" b="0" dirty="0">
                <a:solidFill>
                  <a:srgbClr val="222222"/>
                </a:solidFill>
                <a:effectLst/>
              </a:rPr>
              <a:t>Прикладная нелинейная оптика. – Физматлит, 2004.</a:t>
            </a:r>
            <a:endParaRPr lang="en-US" sz="1400" dirty="0">
              <a:solidFill>
                <a:srgbClr val="222222"/>
              </a:solidFill>
              <a:cs typeface="Times New Roman" panose="02020603050405020304" pitchFamily="18" charset="0"/>
            </a:endParaRPr>
          </a:p>
        </p:txBody>
      </p:sp>
      <p:pic>
        <p:nvPicPr>
          <p:cNvPr id="9" name="Picture 2" descr="phase-matching curve">
            <a:extLst>
              <a:ext uri="{FF2B5EF4-FFF2-40B4-BE49-F238E27FC236}">
                <a16:creationId xmlns:a16="http://schemas.microsoft.com/office/drawing/2014/main" id="{370DF57B-1668-435E-98CA-83781C7E6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46" y="1520358"/>
            <a:ext cx="4320000" cy="231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949C6B-668C-4604-B562-C6E416623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46" y="4158101"/>
            <a:ext cx="4320000" cy="14102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76E125D-3694-4108-B660-338CE72B3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442" y="2137537"/>
            <a:ext cx="5760000" cy="3045397"/>
          </a:xfrm>
          <a:prstGeom prst="rect">
            <a:avLst/>
          </a:prstGeom>
        </p:spPr>
      </p:pic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7576B61-503C-413F-97C9-E52F8133D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9546" y="5536206"/>
          <a:ext cx="3124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Equation" r:id="rId6" imgW="3124313" imgH="711746" progId="Equation.DSMT4">
                  <p:embed/>
                </p:oleObj>
              </mc:Choice>
              <mc:Fallback>
                <p:oleObj name="Equation" r:id="rId6" imgW="3124313" imgH="711746" progId="Equation.DSMT4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C7576B61-503C-413F-97C9-E52F8133DB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9546" y="5536206"/>
                        <a:ext cx="31242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563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4953" cy="435133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kern="0" dirty="0"/>
              <a:t>З</a:t>
            </a:r>
            <a:r>
              <a:rPr lang="ru-RU" sz="2800" b="0" kern="0" dirty="0"/>
              <a:t>апись решётки второй  гармоники; </a:t>
            </a:r>
            <a:r>
              <a:rPr lang="en-US" sz="2800" b="0" dirty="0"/>
              <a:t>P</a:t>
            </a:r>
            <a:r>
              <a:rPr lang="en-US" sz="2800" b="0" baseline="-25000" dirty="0"/>
              <a:t>1</a:t>
            </a:r>
            <a:r>
              <a:rPr lang="en-US" sz="2800" b="0" dirty="0"/>
              <a:t>=38 </a:t>
            </a:r>
            <a:r>
              <a:rPr lang="ru-RU" sz="2800" b="0" dirty="0"/>
              <a:t>Вт;</a:t>
            </a:r>
            <a:endParaRPr lang="ru-RU" sz="2800" b="0" kern="0" dirty="0"/>
          </a:p>
          <a:p>
            <a:pPr marL="457200" indent="-457200">
              <a:buFont typeface="+mj-lt"/>
              <a:buAutoNum type="arabicPeriod"/>
            </a:pPr>
            <a:r>
              <a:rPr lang="ru-RU" sz="2800" b="0" kern="0" dirty="0"/>
              <a:t>По достижении определённой мощности второй гармоники процесс записи приостанавливается и производится измерение кривых спектрального и температурного (температура волокна) синхронизмов; </a:t>
            </a:r>
            <a:r>
              <a:rPr lang="en-US" sz="2800" b="0" dirty="0"/>
              <a:t>P</a:t>
            </a:r>
            <a:r>
              <a:rPr lang="en-US" sz="2800" b="0" baseline="-25000" dirty="0"/>
              <a:t>1</a:t>
            </a:r>
            <a:r>
              <a:rPr lang="en-US" sz="2800" b="0" dirty="0"/>
              <a:t>=</a:t>
            </a:r>
            <a:r>
              <a:rPr lang="ru-RU" sz="2800" b="0" dirty="0"/>
              <a:t>0.5 Вт;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b="0" dirty="0"/>
              <a:t>Процесс записи на мощности накачки </a:t>
            </a:r>
            <a:r>
              <a:rPr lang="en-US" sz="2800" b="0" dirty="0" err="1"/>
              <a:t>P</a:t>
            </a:r>
            <a:r>
              <a:rPr lang="en-US" sz="2800" b="0" baseline="-25000" dirty="0" err="1"/>
              <a:t>pump</a:t>
            </a:r>
            <a:r>
              <a:rPr lang="en-US" sz="2800" b="0" dirty="0"/>
              <a:t>=38 </a:t>
            </a:r>
            <a:r>
              <a:rPr lang="ru-RU" sz="2800" b="0" dirty="0"/>
              <a:t>Вт продолжается. </a:t>
            </a:r>
            <a:endParaRPr lang="en-US" sz="2800" b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EDBEBE-564B-4AE9-BAB0-D96F9BAE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57" y="1558565"/>
            <a:ext cx="5040000" cy="159680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F8D157-CF70-41CF-9210-17D614FE7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0075" y="3384080"/>
            <a:ext cx="5040000" cy="244285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A0EE91-211C-423E-B6D1-3BD134BF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98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3FFC46-3812-47E1-B95C-23892607BEF2}"/>
              </a:ext>
            </a:extLst>
          </p:cNvPr>
          <p:cNvSpPr/>
          <p:nvPr/>
        </p:nvSpPr>
        <p:spPr>
          <a:xfrm>
            <a:off x="782964" y="5830094"/>
            <a:ext cx="79660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[1] </a:t>
            </a:r>
            <a:r>
              <a:rPr lang="ru-RU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Антонюк Б. П., Антонюк В. Б. </a:t>
            </a:r>
            <a:r>
              <a:rPr lang="ru-RU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Самоорганизация возбуждений в </a:t>
            </a:r>
            <a:r>
              <a:rPr lang="ru-RU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германосиликатных</a:t>
            </a:r>
            <a:r>
              <a:rPr lang="ru-RU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волоконных световодах и ее роль в генерации второй гармоники //Успехи физических наук. – 2001. – Т. 171. – №. 1. – С. 61-78.</a:t>
            </a:r>
            <a:endParaRPr lang="ru-RU" sz="1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3B55A1-301A-49C0-9888-3F7808B20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714" y="1407969"/>
            <a:ext cx="3962953" cy="12384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769C97-3E6D-48BF-A410-27311A5F9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0928"/>
            <a:ext cx="4753638" cy="130510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C13717-CBF1-44CA-8F56-B57259F9F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5596" y="3121525"/>
            <a:ext cx="1091999" cy="252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1BF19F3-4356-4BD1-ADFF-9FC8793FD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330" y="3411237"/>
            <a:ext cx="1739999" cy="18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483C48-29C7-47B2-B1D8-E8B5CEFDC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9330" y="3689527"/>
            <a:ext cx="1191893" cy="18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62CC56B-1CD9-4930-8C00-540E6B028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9331" y="3937390"/>
            <a:ext cx="1233471" cy="216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02E9526-9644-4BFD-A23D-38561A79E5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9329" y="3973390"/>
            <a:ext cx="585290" cy="144000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DC730F8-ADB0-413D-A856-E2E275C97967}"/>
              </a:ext>
            </a:extLst>
          </p:cNvPr>
          <p:cNvCxnSpPr/>
          <p:nvPr/>
        </p:nvCxnSpPr>
        <p:spPr>
          <a:xfrm>
            <a:off x="11036536" y="4048618"/>
            <a:ext cx="3541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4DE4A22-590F-4E03-AE24-8921759F94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5596" y="4149529"/>
            <a:ext cx="1360940" cy="28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382C787-5CEF-44CB-A5A7-FA311F990F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3932" y="3159369"/>
            <a:ext cx="1730115" cy="684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653346D-2A16-4A7B-BDE3-B756C2C1D9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6816" y="3843369"/>
            <a:ext cx="822173" cy="180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BD165B8-B3A3-448D-A793-1B5E4291E3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7608" y="4048618"/>
            <a:ext cx="900000" cy="21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79F7D9-2493-44ED-AD56-FDD71321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DC3446-1161-410D-AEB3-152A96F98A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370" y="2860391"/>
            <a:ext cx="5920703" cy="183600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29874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26CD36-2C5C-489E-8C78-E8BAF835A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3343" y="1359146"/>
            <a:ext cx="8405314" cy="443713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81716"/>
            <a:ext cx="12192000" cy="4746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kern="0" dirty="0"/>
              <a:t>Эволюция кривых синхронизма. Синий – спектральная, оранжевый – температурная, зелёный – модель</a:t>
            </a:r>
            <a:endParaRPr lang="en-US" sz="2000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4C1198-3572-457B-90E4-359C4C99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53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962400"/>
            <a:ext cx="12192000" cy="63805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sz="2000" kern="0" dirty="0"/>
              <a:t>Временные зависимости сдвига фазового синхронизма (a), FWHM (b) и пиковой эффективности в процессе формирования χ(2)-решетки (c). Синие и оранжевые точки — экспериментальные значения, полученные при измерениях спектральных кривых и кривых температурной перестройки соответственно, зеленые кривые — результаты моделирования</a:t>
            </a:r>
            <a:endParaRPr lang="en-US" sz="2000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4C1198-3572-457B-90E4-359C4C99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57EB52-0530-4469-A0A7-1D4F5101C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2290" y="1562826"/>
            <a:ext cx="6026019" cy="40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8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ПРЛК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14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7CC03E-67FF-4741-8E98-5D7A44AF6F0F}"/>
              </a:ext>
            </a:extLst>
          </p:cNvPr>
          <p:cNvSpPr txBox="1"/>
          <p:nvPr/>
        </p:nvSpPr>
        <p:spPr>
          <a:xfrm>
            <a:off x="1090558" y="1344061"/>
            <a:ext cx="10339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dirty="0">
                <a:cs typeface="Times New Roman" panose="02020603050405020304" pitchFamily="18" charset="0"/>
              </a:rPr>
              <a:t>Уравнение теплового баланса, приближение бесконечной теплопроводности: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FFF021D-89AA-4F63-9845-CF3440B9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22" y="1995514"/>
            <a:ext cx="2211579" cy="82291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AD0BCE-1440-4EAC-A614-136746FA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254" y="1968871"/>
            <a:ext cx="984064" cy="874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1090558" y="2775462"/>
            <a:ext cx="10339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kern="0" dirty="0">
                <a:cs typeface="Times New Roman" panose="02020603050405020304" pitchFamily="18" charset="0"/>
              </a:rPr>
              <a:t>Решение в виде экспонент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D3D2A10-6576-4BAB-9139-D067BD26C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885" y="3148421"/>
            <a:ext cx="3255231" cy="20372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13F407-E9F4-47E7-88A9-5DB6E26DA208}"/>
              </a:ext>
            </a:extLst>
          </p:cNvPr>
          <p:cNvSpPr txBox="1"/>
          <p:nvPr/>
        </p:nvSpPr>
        <p:spPr>
          <a:xfrm>
            <a:off x="1090558" y="5143169"/>
            <a:ext cx="10339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kern="0" dirty="0">
                <a:cs typeface="Times New Roman" panose="02020603050405020304" pitchFamily="18" charset="0"/>
              </a:rPr>
              <a:t>В ПРЛК измеряемая температура соответствует </a:t>
            </a:r>
            <a:r>
              <a:rPr lang="ru-RU" sz="2400" b="1" kern="0" dirty="0">
                <a:cs typeface="Times New Roman" panose="02020603050405020304" pitchFamily="18" charset="0"/>
              </a:rPr>
              <a:t>средней</a:t>
            </a:r>
            <a:r>
              <a:rPr lang="ru-RU" sz="2400" b="0" kern="0" dirty="0">
                <a:cs typeface="Times New Roman" panose="02020603050405020304" pitchFamily="18" charset="0"/>
              </a:rPr>
              <a:t> температуре кристалла</a:t>
            </a: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C050547E-085D-4F94-9C1D-EF79A0DCFE89}"/>
              </a:ext>
            </a:extLst>
          </p:cNvPr>
          <p:cNvSpPr txBox="1"/>
          <p:nvPr/>
        </p:nvSpPr>
        <p:spPr>
          <a:xfrm>
            <a:off x="1062896" y="6063962"/>
            <a:ext cx="9891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i-FI" sz="1600" b="0" i="0" u="none" strike="noStrike" baseline="0" dirty="0">
                <a:latin typeface="SFRM0800"/>
              </a:rPr>
              <a:t>G. Aloyan, N. Kovalenko, I. Grishchenko, A. Konyashkin, and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O. Ryabushkin, “Acoustic resonance spectroscopy of piezoelectric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crystals under non-uniform heating,” Acoustical Physics, vol. 68,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no. 5, pp. 427–434, 2022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27015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обработки кинетик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15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1062896" y="1430900"/>
            <a:ext cx="52213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Экспоненциальный</a:t>
            </a:r>
            <a:r>
              <a:rPr lang="en-US" sz="2400" b="1" dirty="0">
                <a:cs typeface="Times New Roman" panose="02020603050405020304" pitchFamily="18" charset="0"/>
              </a:rPr>
              <a:t>: </a:t>
            </a:r>
            <a:r>
              <a:rPr lang="ru-RU" sz="2400" dirty="0">
                <a:cs typeface="Times New Roman" panose="02020603050405020304" pitchFamily="18" charset="0"/>
              </a:rPr>
              <a:t>а</a:t>
            </a:r>
            <a:r>
              <a:rPr lang="ru-RU" sz="2400" b="0" dirty="0">
                <a:cs typeface="Times New Roman" panose="02020603050405020304" pitchFamily="18" charset="0"/>
              </a:rPr>
              <a:t>ппроксимация кинетики </a:t>
            </a:r>
            <a:r>
              <a:rPr lang="ru-RU" sz="2400" b="1" dirty="0">
                <a:cs typeface="Times New Roman" panose="02020603050405020304" pitchFamily="18" charset="0"/>
              </a:rPr>
              <a:t>разогрева</a:t>
            </a:r>
            <a:endParaRPr lang="ru-RU" sz="2400" b="0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Импульсный: </a:t>
            </a:r>
            <a:r>
              <a:rPr lang="ru-RU" sz="2400" dirty="0">
                <a:cs typeface="Times New Roman" panose="02020603050405020304" pitchFamily="18" charset="0"/>
              </a:rPr>
              <a:t>э</a:t>
            </a:r>
            <a:r>
              <a:rPr lang="ru-RU" sz="2400" b="0" dirty="0">
                <a:cs typeface="Times New Roman" panose="02020603050405020304" pitchFamily="18" charset="0"/>
              </a:rPr>
              <a:t>кстраполяция кинетики </a:t>
            </a:r>
            <a:r>
              <a:rPr lang="ru-RU" sz="2400" b="1" dirty="0">
                <a:cs typeface="Times New Roman" panose="02020603050405020304" pitchFamily="18" charset="0"/>
              </a:rPr>
              <a:t>остывания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Градиентный: </a:t>
            </a:r>
            <a:r>
              <a:rPr lang="ru-RU" sz="2400" dirty="0">
                <a:cs typeface="Times New Roman" panose="02020603050405020304" pitchFamily="18" charset="0"/>
              </a:rPr>
              <a:t>определение коэффициента поглощения по </a:t>
            </a:r>
            <a:r>
              <a:rPr lang="ru-RU" sz="2400" b="1" dirty="0">
                <a:cs typeface="Times New Roman" panose="02020603050405020304" pitchFamily="18" charset="0"/>
              </a:rPr>
              <a:t>разности производных </a:t>
            </a:r>
            <a:r>
              <a:rPr lang="ru-RU" sz="2400" dirty="0">
                <a:cs typeface="Times New Roman" panose="02020603050405020304" pitchFamily="18" charset="0"/>
              </a:rPr>
              <a:t>разогрева и остывания</a:t>
            </a:r>
            <a:endParaRPr lang="ru-RU" sz="2400" b="1" dirty="0">
              <a:cs typeface="Times New Roman" panose="02020603050405020304" pitchFamily="18" charset="0"/>
            </a:endParaRP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C050547E-085D-4F94-9C1D-EF79A0DCFE89}"/>
              </a:ext>
            </a:extLst>
          </p:cNvPr>
          <p:cNvSpPr txBox="1"/>
          <p:nvPr/>
        </p:nvSpPr>
        <p:spPr>
          <a:xfrm>
            <a:off x="1150396" y="6200487"/>
            <a:ext cx="9891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ГОСТ Р ИСО 11551-2015. Методика измерений коэффициента поглощения лазерного излучения оптическими элементами. </a:t>
            </a:r>
            <a:r>
              <a:rPr lang="ru-RU" sz="1600" dirty="0" err="1"/>
              <a:t>Введ</a:t>
            </a:r>
            <a:r>
              <a:rPr lang="ru-RU" sz="1600" dirty="0"/>
              <a:t>. 07.08.2015. М: </a:t>
            </a:r>
            <a:r>
              <a:rPr lang="ru-RU" sz="1600" dirty="0" err="1"/>
              <a:t>Стандартинформ</a:t>
            </a:r>
            <a:r>
              <a:rPr lang="ru-RU" sz="1600" dirty="0"/>
              <a:t>, 2017. 20 с.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EFBD8A-2A7E-411A-9D71-DB0B626A6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6483" y="1442075"/>
            <a:ext cx="5084752" cy="301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75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Поправки к температурным </a:t>
            </a:r>
            <a:r>
              <a:rPr lang="ru-RU" dirty="0" err="1"/>
              <a:t>кинетикам</a:t>
            </a:r>
            <a:r>
              <a:rPr lang="ru-RU" dirty="0"/>
              <a:t>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3C7FA-9373-4026-8F01-8B89955959EF}"/>
              </a:ext>
            </a:extLst>
          </p:cNvPr>
          <p:cNvSpPr txBox="1"/>
          <p:nvPr/>
        </p:nvSpPr>
        <p:spPr>
          <a:xfrm>
            <a:off x="838200" y="1431072"/>
            <a:ext cx="63156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Влияние непостоянства температуры окружающей среды: </a:t>
            </a:r>
            <a:r>
              <a:rPr lang="ru-RU" sz="2000" dirty="0">
                <a:cs typeface="Times New Roman" panose="02020603050405020304" pitchFamily="18" charset="0"/>
              </a:rPr>
              <a:t>возможно учесть в ПРЛК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градиен</a:t>
            </a:r>
            <a:r>
              <a:rPr lang="ru-RU" sz="2000" dirty="0">
                <a:cs typeface="Times New Roman" panose="02020603050405020304" pitchFamily="18" charset="0"/>
              </a:rPr>
              <a:t>тного метода: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импульсного/экспоненциального методов: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A1F246-EF6E-4A97-90B2-83FD067E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877" y="2110492"/>
            <a:ext cx="2982461" cy="252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26983F3-97A3-460E-B351-9967FAC044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04" r="587"/>
          <a:stretch/>
        </p:blipFill>
        <p:spPr>
          <a:xfrm>
            <a:off x="1901574" y="2701526"/>
            <a:ext cx="4037288" cy="6324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A7AF60-D133-41F9-B37A-76AA5D6E83D8}"/>
              </a:ext>
            </a:extLst>
          </p:cNvPr>
          <p:cNvSpPr txBox="1"/>
          <p:nvPr/>
        </p:nvSpPr>
        <p:spPr>
          <a:xfrm>
            <a:off x="869577" y="3333986"/>
            <a:ext cx="668276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Влияние непостоянства коэффициента теплоотдачи: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Пример: </a:t>
            </a:r>
            <a:r>
              <a:rPr lang="ru-RU" sz="2000" dirty="0">
                <a:cs typeface="Times New Roman" panose="02020603050405020304" pitchFamily="18" charset="0"/>
              </a:rPr>
              <a:t>постоянные несовпадающие между собой значения на участках нагрева и остывания: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экспоненциального метода: без изменени</a:t>
            </a:r>
            <a:r>
              <a:rPr lang="ru-RU" sz="2000" dirty="0">
                <a:cs typeface="Times New Roman" panose="02020603050405020304" pitchFamily="18" charset="0"/>
              </a:rPr>
              <a:t>й;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000" dirty="0"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импульсного метода: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000" b="0" dirty="0"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Times New Roman" panose="02020603050405020304" pitchFamily="18" charset="0"/>
              </a:rPr>
              <a:t>Для градиентного метода:</a:t>
            </a:r>
            <a:endParaRPr lang="ru-RU" sz="2000" b="0" dirty="0"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748DF3F-5A2F-4E64-9E17-545A68295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341" y="4787610"/>
            <a:ext cx="3011907" cy="576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74CB4B2-EFE0-4243-B414-8D1521329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264" y="5493618"/>
            <a:ext cx="2388571" cy="36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18C779-667F-47D3-A860-1AEA3FC78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532" y="1388437"/>
            <a:ext cx="3510000" cy="234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7E4F05-BF0B-439F-BFC7-3834F7E770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4532" y="3733801"/>
            <a:ext cx="3360000" cy="25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4E123D-D7EB-45C1-9EFC-4C8A4B7D328F}"/>
              </a:ext>
            </a:extLst>
          </p:cNvPr>
          <p:cNvSpPr txBox="1"/>
          <p:nvPr/>
        </p:nvSpPr>
        <p:spPr>
          <a:xfrm>
            <a:off x="8104094" y="6127425"/>
            <a:ext cx="3249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cs typeface="Times New Roman" panose="02020603050405020304" pitchFamily="18" charset="0"/>
              </a:rPr>
              <a:t>Результаты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937995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17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8471646" y="1455481"/>
            <a:ext cx="37203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cs typeface="Times New Roman" panose="02020603050405020304" pitchFamily="18" charset="0"/>
              </a:rPr>
              <a:t>LBO, 1*5*5 </a:t>
            </a:r>
            <a:r>
              <a:rPr lang="uk-UA" sz="2000" b="1" dirty="0">
                <a:cs typeface="Times New Roman" panose="02020603050405020304" pitchFamily="18" charset="0"/>
              </a:rPr>
              <a:t>мм</a:t>
            </a:r>
            <a:r>
              <a:rPr lang="uk-UA" sz="2000" b="1" baseline="30000" dirty="0">
                <a:cs typeface="Times New Roman" panose="02020603050405020304" pitchFamily="18" charset="0"/>
              </a:rPr>
              <a:t>3</a:t>
            </a:r>
            <a:r>
              <a:rPr lang="uk-UA" sz="2000" b="1" dirty="0">
                <a:cs typeface="Times New Roman" panose="02020603050405020304" pitchFamily="18" charset="0"/>
              </a:rPr>
              <a:t>, 1030 нм</a:t>
            </a:r>
            <a:endParaRPr lang="ru-RU" sz="2000" b="0" baseline="300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2471E-B7D6-48E6-AC26-F7DAED4891F2}"/>
              </a:ext>
            </a:extLst>
          </p:cNvPr>
          <p:cNvSpPr txBox="1"/>
          <p:nvPr/>
        </p:nvSpPr>
        <p:spPr>
          <a:xfrm>
            <a:off x="8720245" y="2042380"/>
            <a:ext cx="32626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cs typeface="Times New Roman" panose="02020603050405020304" pitchFamily="18" charset="0"/>
              </a:rPr>
              <a:t>1 – экспоненциальный метод, 2 – импульсный метод, 3 – градиентный метод</a:t>
            </a:r>
            <a:r>
              <a:rPr lang="en-US" dirty="0">
                <a:cs typeface="Times New Roman" panose="02020603050405020304" pitchFamily="18" charset="0"/>
              </a:rPr>
              <a:t>. </a:t>
            </a:r>
            <a:endParaRPr lang="ru-RU" dirty="0"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cs typeface="Times New Roman" panose="02020603050405020304" pitchFamily="18" charset="0"/>
              </a:rPr>
              <a:t>Без поправок (слева), обе поправки (справа)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12">
                <a:extLst>
                  <a:ext uri="{FF2B5EF4-FFF2-40B4-BE49-F238E27FC236}">
                    <a16:creationId xmlns:a16="http://schemas.microsoft.com/office/drawing/2014/main" id="{29E7C776-C3CA-4FB8-9B57-45C0EE8216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1156860"/>
                  </p:ext>
                </p:extLst>
              </p:nvPr>
            </p:nvGraphicFramePr>
            <p:xfrm>
              <a:off x="427555" y="4659985"/>
              <a:ext cx="7553980" cy="21234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988531">
                      <a:extLst>
                        <a:ext uri="{9D8B030D-6E8A-4147-A177-3AD203B41FA5}">
                          <a16:colId xmlns:a16="http://schemas.microsoft.com/office/drawing/2014/main" val="3704815666"/>
                        </a:ext>
                      </a:extLst>
                    </a:gridCol>
                    <a:gridCol w="4565449">
                      <a:extLst>
                        <a:ext uri="{9D8B030D-6E8A-4147-A177-3AD203B41FA5}">
                          <a16:colId xmlns:a16="http://schemas.microsoft.com/office/drawing/2014/main" val="40100894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Модель, метод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Максимальное различие между методами, 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599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Без поправок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5225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oMath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996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98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:r>
                            <a:rPr lang="ru-RU" dirty="0"/>
                            <a:t>и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709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12">
                <a:extLst>
                  <a:ext uri="{FF2B5EF4-FFF2-40B4-BE49-F238E27FC236}">
                    <a16:creationId xmlns:a16="http://schemas.microsoft.com/office/drawing/2014/main" id="{29E7C776-C3CA-4FB8-9B57-45C0EE8216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1156860"/>
                  </p:ext>
                </p:extLst>
              </p:nvPr>
            </p:nvGraphicFramePr>
            <p:xfrm>
              <a:off x="427555" y="4659985"/>
              <a:ext cx="7553980" cy="21234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988531">
                      <a:extLst>
                        <a:ext uri="{9D8B030D-6E8A-4147-A177-3AD203B41FA5}">
                          <a16:colId xmlns:a16="http://schemas.microsoft.com/office/drawing/2014/main" val="3704815666"/>
                        </a:ext>
                      </a:extLst>
                    </a:gridCol>
                    <a:gridCol w="4565449">
                      <a:extLst>
                        <a:ext uri="{9D8B030D-6E8A-4147-A177-3AD203B41FA5}">
                          <a16:colId xmlns:a16="http://schemas.microsoft.com/office/drawing/2014/main" val="401008944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Модель, метод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Максимальное различие между методами, 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599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Без поправок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5225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280328" r="-15274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996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98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480328" r="-15274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70902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97D28C-DB3F-4887-BEC0-EB6DABF5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35" y="1419985"/>
            <a:ext cx="4263159" cy="324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497D5E-5D7B-46BA-BBEE-703D88EEC7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7442" y="1419985"/>
            <a:ext cx="426315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45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FBA2288-4AF1-41B6-825D-415E7AA4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335740"/>
            <a:ext cx="11223812" cy="5020609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При создании гибридного источника излучения на длине волны 3 мкм с волоконной накачкой в маломодовом волокне доставки FUD-3564 впервые обнаружено взаимное влияние одномодового (ОМЧВС) и межмодового (ММЧВС) четырёхволнового смешения, имеющих общую антистоксовую компоненту на длине волны 1003 нм. Показано, что синхронизация импульсов накачки (1030 нм) и затравки (1562 нм) увеличивает спектральную мощность компонент ММЧВС на 20 дБ, что снижает эффективность генерации разностной частоты (ГРЧ) в нелинейно-оптическом кристалле. Предложен и реализован метод подавления взаимного влияния ЧВС с помощью модового фильтра на входе волокна, позволяющий увеличить допустимую длину волокна доставки с 2.5 м до 3.0 м без существенной потери полезной мощности накачки.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Впервые экспериментально исследована эволюция кривых фазового синхронизма при фотоиндуцированной ГВГ в германосиликатном ОВ в режиме самозатравки. Показано, что в процессе оптического полинга ширина кривых фазового синхронизма и их сдвиг монотонно уменьшаются до стационарных значений, а форма кривых сохраняет выраженную асимметрию. Проведён соответствующий численный расчет с использованием адаптированной модели В. Антонюка и Б. Антонюка с учётом керровского эффекта. Обнаружено, что на поздних стадиях эффективность ГВГ остаётся практически постоянной вследствие динамического равновесия между уменьшением спектральной расстройки и ростом пиковой эффективности преобразования. Полученные результаты создают основу для разработки физической модели фотоиндуцированной ГВГ в оптических волокнах, которая позволит прогнозировать уровень паразитной генерации второй гармоники в волокнах доставки мощных лазерных систем, в которых данный эффект может быть нежелательным, поскольку он может приводить снижению порога оптического разрушения н-о кристаллов в гибридных лазерных системах.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Предложены поправочные выражения для трёх методик обработки температурных кинетик при разогреве образца лазерным излучением в методе ПРЛК, позволяющие компенсировать нестабильность температуры окружающей среды и коэффициента теплоотдачи. Экспериментально показано, что применение поправок снижает разброс измерений коэффициента оптического поглощения более чем в два раза (с 23 % до 11 %). Это позволяет использовать градиентный метод, ранее исключённый из стандарта ISO 11551, который, в отличие от других, обеспечивает возможность измерения коэффициента поглощения в режиме реального времени. Такая возможность важна при разработке гибридного источника на длине волны 3 мкм, поскольку точное знание коэффициента поглощения нелинейно-оптического кристалла необходимо для расчёта его теплового режима и обеспечения стабильной эффективности генерации разностной частоты.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FBC8EE-0A8F-45E0-9F68-67997A2E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71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Научная новизна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/>
              <a:t>Установлено</a:t>
            </a:r>
            <a:r>
              <a:rPr lang="ru-RU" dirty="0"/>
              <a:t>, что взаимное влияние одномодового и межмодового четырёхволнового смешения в маломодовом оптическом волокне обусловлено наличием у этих н-о процессов общей антистоксовой компоненты. Предложен метод подавления нежелательных спектральных компонент с помощью модового фильтра.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Обнаружено, что в процессе формирования решётки квадратичной нелинейной восприимчивости при фотоиндуцированной генерации второй гармоники в германосиликатном ОВ ширина кривых фазового синхронизма монотонно уменьшается, их пик сдвигается к </a:t>
            </a:r>
            <a:r>
              <a:rPr lang="ru-RU" dirty="0" err="1"/>
              <a:t>расстройке</a:t>
            </a:r>
            <a:r>
              <a:rPr lang="ru-RU" dirty="0"/>
              <a:t>, определяемой фазовой самомодуляцией и кросс-модуляцией, при этом форма кривых синхронизма сохраняет выраженную асимметрию. 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Для экспоненциального, импульсного и градиентного методов обработки температурных кинетик при разогреве н-о кристалла лазерным излучением предложены поправочные выражения, позволяющие компенсировать нестационарность температуры окружающей среды и коэффициента теплообмена.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534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Положения, выносимые на защиту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 маломодовом оптическом волокне взаимное влияние одномодового и межмодового четырёхволнового смешения синхронизированных оптических импульсов двухволнового лазерного источника обусловлено перекрытием спектров усиления их общих антистоксовых компонент.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 процессе оптического полинга </a:t>
            </a:r>
            <a:r>
              <a:rPr lang="ru-RU" dirty="0" err="1"/>
              <a:t>германосиликатного</a:t>
            </a:r>
            <a:r>
              <a:rPr lang="ru-RU" dirty="0"/>
              <a:t> волокна излучением ближнего ИК-диапазона ширина кривых фазового синхронизма генерации второй гармоники монотонно уменьшается, а их пик сдвигается к </a:t>
            </a:r>
            <a:r>
              <a:rPr lang="ru-RU" dirty="0" err="1"/>
              <a:t>расстройке</a:t>
            </a:r>
            <a:r>
              <a:rPr lang="ru-RU" dirty="0"/>
              <a:t>, определяемой фазовой самомодуляцией и кросс-модуляцией. При этом выход эффективности ГВГ на постоянный уровень наступает до завершения эволюции кривых фазового синхронизма, поскольку указанные эффекты компенсируются одновременным ростом пиковой эффективности преобразования.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53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публикаций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uk-UA" dirty="0" err="1"/>
              <a:t>Результаты</a:t>
            </a:r>
            <a:r>
              <a:rPr lang="uk-UA" dirty="0"/>
              <a:t>, </a:t>
            </a:r>
            <a:r>
              <a:rPr lang="uk-UA" dirty="0" err="1"/>
              <a:t>изложенн</a:t>
            </a:r>
            <a:r>
              <a:rPr lang="ru-RU" dirty="0" err="1"/>
              <a:t>ые</a:t>
            </a:r>
            <a:r>
              <a:rPr lang="ru-RU" dirty="0"/>
              <a:t> в диссертации, опубликованы в </a:t>
            </a:r>
            <a:r>
              <a:rPr lang="ru-RU" b="1" dirty="0"/>
              <a:t>15</a:t>
            </a:r>
            <a:r>
              <a:rPr lang="ru-RU" dirty="0"/>
              <a:t> печатных работах, из них </a:t>
            </a:r>
            <a:r>
              <a:rPr lang="ru-RU" b="1" dirty="0"/>
              <a:t>12</a:t>
            </a:r>
            <a:r>
              <a:rPr lang="ru-RU" dirty="0"/>
              <a:t> в сборниках научных конференций, </a:t>
            </a:r>
            <a:r>
              <a:rPr lang="ru-RU" b="1" dirty="0"/>
              <a:t>3</a:t>
            </a:r>
            <a:r>
              <a:rPr lang="ru-RU" dirty="0"/>
              <a:t> в научных журналах: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Zotov K.V., Ostapiv </a:t>
            </a:r>
            <a:r>
              <a:rPr lang="en-US" dirty="0" err="1"/>
              <a:t>A.Yu</a:t>
            </a:r>
            <a:r>
              <a:rPr lang="en-US" dirty="0"/>
              <a:t>., Tereshchenko N.V., Ryabushkin O.A. </a:t>
            </a:r>
            <a:r>
              <a:rPr lang="en-US" b="1" dirty="0"/>
              <a:t>Accuracy and applicability of the standardized methods of processing the temperature data in laser and piezoelectric laser calorimetry </a:t>
            </a:r>
            <a:r>
              <a:rPr lang="en-US" dirty="0"/>
              <a:t>// Optics and Spectroscopy – 2025. – V. 133, No 1. – P. 73–81.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Ostapiv </a:t>
            </a:r>
            <a:r>
              <a:rPr lang="en-US" dirty="0" err="1"/>
              <a:t>A.Yu</a:t>
            </a:r>
            <a:r>
              <a:rPr lang="en-US" dirty="0"/>
              <a:t>., </a:t>
            </a:r>
            <a:r>
              <a:rPr lang="en-US" dirty="0" err="1"/>
              <a:t>Tsypkin</a:t>
            </a:r>
            <a:r>
              <a:rPr lang="en-US" dirty="0"/>
              <a:t> V.P., Larionov I.A., Tyrtyshnyy V.A., Konyashkin A.V. </a:t>
            </a:r>
            <a:r>
              <a:rPr lang="en-US" b="1" dirty="0"/>
              <a:t>Mutual influence of intermodal and fundamental four-wave mixing of 1.0 </a:t>
            </a:r>
            <a:r>
              <a:rPr lang="el-GR" b="1" dirty="0"/>
              <a:t>μ</a:t>
            </a:r>
            <a:r>
              <a:rPr lang="en-US" b="1" dirty="0"/>
              <a:t>m and 1.5 </a:t>
            </a:r>
            <a:r>
              <a:rPr lang="el-GR" b="1" dirty="0"/>
              <a:t>μ</a:t>
            </a:r>
            <a:r>
              <a:rPr lang="en-US" b="1" dirty="0"/>
              <a:t>m nanosecond pulses in a dual-wavelength fiber laser </a:t>
            </a:r>
            <a:r>
              <a:rPr lang="en-US" dirty="0"/>
              <a:t>// Optics Letters. – 2023. – Vol. 48, No. 17. – P. 4597–4600.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Ostapiv </a:t>
            </a:r>
            <a:r>
              <a:rPr lang="en-US" dirty="0" err="1"/>
              <a:t>A.Yu</a:t>
            </a:r>
            <a:r>
              <a:rPr lang="en-US" dirty="0"/>
              <a:t>., Zotov K.V., Tereshchenko N.V., Konyashkin A.V. </a:t>
            </a:r>
            <a:r>
              <a:rPr lang="en-US" b="1" dirty="0"/>
              <a:t>Evolution of spectral and temperature tuning curves of second harmonic generation in Ge-doped silica fibers in process of optical poling by infrared laser radiation </a:t>
            </a:r>
            <a:r>
              <a:rPr lang="en-US" dirty="0"/>
              <a:t>// Laser Physics. – 2026. – Vol. 36, No. 5. – P. 055401.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178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значимость: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Предложенный метод подавления межмодового четырёхволнового смешения основан на использовании модового фильтра в виде участка одномодового ОВ, согласованного по </a:t>
            </a:r>
            <a:r>
              <a:rPr lang="ru-RU" dirty="0" err="1"/>
              <a:t>модовому</a:t>
            </a:r>
            <a:r>
              <a:rPr lang="ru-RU" dirty="0"/>
              <a:t> диаметру с ОВ доставки. Применение метода позволяет увеличить допустимую длину ОВ доставки с 2.5 м до 3.0 м без снижения эффективности генерации разностной частоты, что важно для создания практичных и функциональных лазерных источников среднего ИК-диапазона.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Полученные зависимости эволюции кривых фазового синхронизма при оптическом полинге ОВ позволяют определить изменение фазовой расстройки в процессе формирования решётки квадратичной нелинейности. Это создаёт основу для будущих исследований по управлению фазой накачки с целью либо подавления паразитной ГВГ, либо её эффективной генерации.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Разработанные поправочные выражения для обработки температурных кинетик н-о кристаллов при разогреве лазерным излучением позволяют снизить разброс измерений коэффициента оптического поглощения в три раза, повышая точность диагностики нелинейно-оптических кристаллов и достоверность оценки их теплового режима при работе в мощных лазерных системах.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522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6FBA2288-4AF1-41B6-825D-415E7AA4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0447"/>
            <a:ext cx="10515600" cy="13357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/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FBC8EE-0A8F-45E0-9F68-67997A2E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894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диссертации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Здесь оглавление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6223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1911</Words>
  <Application>Microsoft Office PowerPoint</Application>
  <PresentationFormat>Широкоэкранный</PresentationFormat>
  <Paragraphs>157</Paragraphs>
  <Slides>24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SFRM0800</vt:lpstr>
      <vt:lpstr>Tahoma</vt:lpstr>
      <vt:lpstr>Тема Office</vt:lpstr>
      <vt:lpstr>Equation</vt:lpstr>
      <vt:lpstr>Нелинейно-оптические и нестационарные тепловые процессы в волоконных световодах и кристаллах при распространении мощного импульсного лазерного излучения</vt:lpstr>
      <vt:lpstr>Актуальность</vt:lpstr>
      <vt:lpstr>Актуальность</vt:lpstr>
      <vt:lpstr>Цели и задачи работы</vt:lpstr>
      <vt:lpstr>Четырёхволновое смешение (ЧВС)</vt:lpstr>
      <vt:lpstr>Взаимное влияние ОМЧВС и ММЧВС</vt:lpstr>
      <vt:lpstr>Математическая модель ЧВС</vt:lpstr>
      <vt:lpstr>Подавление ММЧВС</vt:lpstr>
      <vt:lpstr>Фазовый синхронизм</vt:lpstr>
      <vt:lpstr>Эксперимент</vt:lpstr>
      <vt:lpstr>Модель</vt:lpstr>
      <vt:lpstr>Результаты</vt:lpstr>
      <vt:lpstr>Результаты</vt:lpstr>
      <vt:lpstr>ПРЛК</vt:lpstr>
      <vt:lpstr>Методы обработки кинетик</vt:lpstr>
      <vt:lpstr>Поправки к температурным кинетикам </vt:lpstr>
      <vt:lpstr>Эксперимент</vt:lpstr>
      <vt:lpstr>Результаты</vt:lpstr>
      <vt:lpstr>Научная новизна</vt:lpstr>
      <vt:lpstr>Положения, выносимые на защиту</vt:lpstr>
      <vt:lpstr>Список публикаций</vt:lpstr>
      <vt:lpstr>Практическая значимость:</vt:lpstr>
      <vt:lpstr>Презентация PowerPoint</vt:lpstr>
      <vt:lpstr>Структура диссертации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Что-то про генерацию второй гармоники в оптическом волокне (вроде как тема диссера)</dc:title>
  <dc:creator>Алексей Остапив</dc:creator>
  <cp:lastModifiedBy>Алексей Остапив</cp:lastModifiedBy>
  <cp:revision>120</cp:revision>
  <dcterms:created xsi:type="dcterms:W3CDTF">2025-09-22T09:57:59Z</dcterms:created>
  <dcterms:modified xsi:type="dcterms:W3CDTF">2026-08-19T15:47:10Z</dcterms:modified>
</cp:coreProperties>
</file>